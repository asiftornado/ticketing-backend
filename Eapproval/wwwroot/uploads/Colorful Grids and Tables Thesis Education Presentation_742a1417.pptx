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6" r:id="rId9"/>
    <p:sldId id="267" r:id="rId10"/>
    <p:sldId id="268" r:id="rId11"/>
    <p:sldId id="278" r:id="rId12"/>
    <p:sldId id="272" r:id="rId13"/>
    <p:sldId id="274" r:id="rId14"/>
    <p:sldId id="273" r:id="rId15"/>
  </p:sldIdLst>
  <p:sldSz cx="18288000" cy="102870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Caladea" panose="020B0604020202020204" charset="0"/>
      <p:regular r:id="rId20"/>
    </p:embeddedFont>
    <p:embeddedFont>
      <p:font typeface="Public Sans" panose="020B0604020202020204" charset="0"/>
      <p:regular r:id="rId21"/>
    </p:embeddedFont>
    <p:embeddedFont>
      <p:font typeface="Caladea Bold" panose="020B0604020202020204" charset="0"/>
      <p:regular r:id="rId22"/>
    </p:embeddedFont>
    <p:embeddedFont>
      <p:font typeface="Public Sans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28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40" d="100"/>
          <a:sy n="40" d="100"/>
        </p:scale>
        <p:origin x="390" y="276"/>
      </p:cViewPr>
      <p:guideLst>
        <p:guide orient="horz" pos="2184"/>
        <p:guide pos="28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2E58A0-6F2B-4788-BC45-2559EEDB8F51}" type="doc">
      <dgm:prSet loTypeId="urn:microsoft.com/office/officeart/2005/8/layout/vList5" loCatId="list" qsTypeId="urn:microsoft.com/office/officeart/2005/8/quickstyle/simple1" qsCatId="simple" csTypeId="urn:microsoft.com/office/officeart/2005/8/colors/accent3_1" csCatId="accent3"/>
      <dgm:spPr/>
      <dgm:t>
        <a:bodyPr/>
        <a:lstStyle/>
        <a:p>
          <a:endParaRPr lang="en-US"/>
        </a:p>
      </dgm:t>
    </dgm:pt>
    <dgm:pt modelId="{27836A12-B97C-4CA2-AAFA-8CA1DEF7AE63}">
      <dgm:prSet/>
      <dgm:spPr/>
      <dgm:t>
        <a:bodyPr/>
        <a:lstStyle/>
        <a:p>
          <a:pPr rtl="0"/>
          <a:r>
            <a:rPr lang="en-US" dirty="0" smtClean="0"/>
            <a:t>CCTV cameras widely used in the corporate </a:t>
          </a:r>
          <a:r>
            <a:rPr lang="en-US" dirty="0" err="1" smtClean="0"/>
            <a:t>workd</a:t>
          </a:r>
          <a:endParaRPr lang="en-US" dirty="0"/>
        </a:p>
      </dgm:t>
    </dgm:pt>
    <dgm:pt modelId="{18DFCACD-4803-4AF5-8514-233515DBDDB5}" type="parTrans" cxnId="{D479B79B-9C78-4C59-A716-B302584632F8}">
      <dgm:prSet/>
      <dgm:spPr/>
      <dgm:t>
        <a:bodyPr/>
        <a:lstStyle/>
        <a:p>
          <a:endParaRPr lang="en-US"/>
        </a:p>
      </dgm:t>
    </dgm:pt>
    <dgm:pt modelId="{9B39E2B0-92DA-495F-ABC2-FE353F2902B8}" type="sibTrans" cxnId="{D479B79B-9C78-4C59-A716-B302584632F8}">
      <dgm:prSet/>
      <dgm:spPr/>
      <dgm:t>
        <a:bodyPr/>
        <a:lstStyle/>
        <a:p>
          <a:endParaRPr lang="en-US"/>
        </a:p>
      </dgm:t>
    </dgm:pt>
    <dgm:pt modelId="{7D88CF23-EAD2-48CC-823C-79CE6FC8E7AF}">
      <dgm:prSet/>
      <dgm:spPr/>
      <dgm:t>
        <a:bodyPr/>
        <a:lstStyle/>
        <a:p>
          <a:pPr rtl="0"/>
          <a:r>
            <a:rPr lang="en-US" smtClean="0"/>
            <a:t>Virtual eyes for top level managers and owners</a:t>
          </a:r>
          <a:endParaRPr lang="en-US"/>
        </a:p>
      </dgm:t>
    </dgm:pt>
    <dgm:pt modelId="{B74D0E68-44CD-42DD-AFEB-F37D72C0F41B}" type="parTrans" cxnId="{F21C1211-A0ED-4D89-B4AB-03C368D0C5CD}">
      <dgm:prSet/>
      <dgm:spPr/>
      <dgm:t>
        <a:bodyPr/>
        <a:lstStyle/>
        <a:p>
          <a:endParaRPr lang="en-US"/>
        </a:p>
      </dgm:t>
    </dgm:pt>
    <dgm:pt modelId="{0F8D5875-1572-4490-AF82-9CA91A47DE2E}" type="sibTrans" cxnId="{F21C1211-A0ED-4D89-B4AB-03C368D0C5CD}">
      <dgm:prSet/>
      <dgm:spPr/>
      <dgm:t>
        <a:bodyPr/>
        <a:lstStyle/>
        <a:p>
          <a:endParaRPr lang="en-US"/>
        </a:p>
      </dgm:t>
    </dgm:pt>
    <dgm:pt modelId="{2455CF42-B043-44C5-96B2-B3F00DF7FC2A}">
      <dgm:prSet/>
      <dgm:spPr/>
      <dgm:t>
        <a:bodyPr/>
        <a:lstStyle/>
        <a:p>
          <a:pPr rtl="0"/>
          <a:r>
            <a:rPr lang="en-US" smtClean="0"/>
            <a:t>Effect on employees still questionable</a:t>
          </a:r>
          <a:endParaRPr lang="en-US"/>
        </a:p>
      </dgm:t>
    </dgm:pt>
    <dgm:pt modelId="{70503D75-0DF5-42A2-9CA7-A5D87BF5946B}" type="parTrans" cxnId="{498F604C-1CC3-4298-82A2-83A0D3BBE3A8}">
      <dgm:prSet/>
      <dgm:spPr/>
      <dgm:t>
        <a:bodyPr/>
        <a:lstStyle/>
        <a:p>
          <a:endParaRPr lang="en-US"/>
        </a:p>
      </dgm:t>
    </dgm:pt>
    <dgm:pt modelId="{0E8A1B97-CA2B-40EB-9638-9F650F854348}" type="sibTrans" cxnId="{498F604C-1CC3-4298-82A2-83A0D3BBE3A8}">
      <dgm:prSet/>
      <dgm:spPr/>
      <dgm:t>
        <a:bodyPr/>
        <a:lstStyle/>
        <a:p>
          <a:endParaRPr lang="en-US"/>
        </a:p>
      </dgm:t>
    </dgm:pt>
    <dgm:pt modelId="{9A56163E-E488-4E90-8E20-B24E41F3ADEB}" type="pres">
      <dgm:prSet presAssocID="{472E58A0-6F2B-4788-BC45-2559EEDB8F51}" presName="Name0" presStyleCnt="0">
        <dgm:presLayoutVars>
          <dgm:dir/>
          <dgm:animLvl val="lvl"/>
          <dgm:resizeHandles val="exact"/>
        </dgm:presLayoutVars>
      </dgm:prSet>
      <dgm:spPr/>
    </dgm:pt>
    <dgm:pt modelId="{0ACB1D3D-5925-4CDE-AD0E-2BECA1602130}" type="pres">
      <dgm:prSet presAssocID="{27836A12-B97C-4CA2-AAFA-8CA1DEF7AE63}" presName="linNode" presStyleCnt="0"/>
      <dgm:spPr/>
    </dgm:pt>
    <dgm:pt modelId="{89E2E048-BEFD-4CBA-B6E2-AC8194D0A761}" type="pres">
      <dgm:prSet presAssocID="{27836A12-B97C-4CA2-AAFA-8CA1DEF7AE63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8226CD28-EE57-47C5-ACC3-3CF8EFB4414C}" type="pres">
      <dgm:prSet presAssocID="{9B39E2B0-92DA-495F-ABC2-FE353F2902B8}" presName="sp" presStyleCnt="0"/>
      <dgm:spPr/>
    </dgm:pt>
    <dgm:pt modelId="{FD5526A8-8ED1-4DBF-A240-BBB4DC346CD9}" type="pres">
      <dgm:prSet presAssocID="{7D88CF23-EAD2-48CC-823C-79CE6FC8E7AF}" presName="linNode" presStyleCnt="0"/>
      <dgm:spPr/>
    </dgm:pt>
    <dgm:pt modelId="{B0652788-7992-4B37-91A5-4D1442509106}" type="pres">
      <dgm:prSet presAssocID="{7D88CF23-EAD2-48CC-823C-79CE6FC8E7AF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3C648D88-5615-49BE-A199-6FDD83FE5077}" type="pres">
      <dgm:prSet presAssocID="{0F8D5875-1572-4490-AF82-9CA91A47DE2E}" presName="sp" presStyleCnt="0"/>
      <dgm:spPr/>
    </dgm:pt>
    <dgm:pt modelId="{BF80D823-1A5D-4005-A17A-61C239AC8219}" type="pres">
      <dgm:prSet presAssocID="{2455CF42-B043-44C5-96B2-B3F00DF7FC2A}" presName="linNode" presStyleCnt="0"/>
      <dgm:spPr/>
    </dgm:pt>
    <dgm:pt modelId="{4524BD02-D872-421A-809F-483001B840F1}" type="pres">
      <dgm:prSet presAssocID="{2455CF42-B043-44C5-96B2-B3F00DF7FC2A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D479B79B-9C78-4C59-A716-B302584632F8}" srcId="{472E58A0-6F2B-4788-BC45-2559EEDB8F51}" destId="{27836A12-B97C-4CA2-AAFA-8CA1DEF7AE63}" srcOrd="0" destOrd="0" parTransId="{18DFCACD-4803-4AF5-8514-233515DBDDB5}" sibTransId="{9B39E2B0-92DA-495F-ABC2-FE353F2902B8}"/>
    <dgm:cxn modelId="{939DE8FD-7282-48D5-A4D9-E69FBD64B070}" type="presOf" srcId="{27836A12-B97C-4CA2-AAFA-8CA1DEF7AE63}" destId="{89E2E048-BEFD-4CBA-B6E2-AC8194D0A761}" srcOrd="0" destOrd="0" presId="urn:microsoft.com/office/officeart/2005/8/layout/vList5"/>
    <dgm:cxn modelId="{11068A0B-8CCB-486A-85F3-1327623B30BE}" type="presOf" srcId="{7D88CF23-EAD2-48CC-823C-79CE6FC8E7AF}" destId="{B0652788-7992-4B37-91A5-4D1442509106}" srcOrd="0" destOrd="0" presId="urn:microsoft.com/office/officeart/2005/8/layout/vList5"/>
    <dgm:cxn modelId="{F21C1211-A0ED-4D89-B4AB-03C368D0C5CD}" srcId="{472E58A0-6F2B-4788-BC45-2559EEDB8F51}" destId="{7D88CF23-EAD2-48CC-823C-79CE6FC8E7AF}" srcOrd="1" destOrd="0" parTransId="{B74D0E68-44CD-42DD-AFEB-F37D72C0F41B}" sibTransId="{0F8D5875-1572-4490-AF82-9CA91A47DE2E}"/>
    <dgm:cxn modelId="{4E832319-CC1B-4992-8304-028AF390E7EA}" type="presOf" srcId="{2455CF42-B043-44C5-96B2-B3F00DF7FC2A}" destId="{4524BD02-D872-421A-809F-483001B840F1}" srcOrd="0" destOrd="0" presId="urn:microsoft.com/office/officeart/2005/8/layout/vList5"/>
    <dgm:cxn modelId="{498F604C-1CC3-4298-82A2-83A0D3BBE3A8}" srcId="{472E58A0-6F2B-4788-BC45-2559EEDB8F51}" destId="{2455CF42-B043-44C5-96B2-B3F00DF7FC2A}" srcOrd="2" destOrd="0" parTransId="{70503D75-0DF5-42A2-9CA7-A5D87BF5946B}" sibTransId="{0E8A1B97-CA2B-40EB-9638-9F650F854348}"/>
    <dgm:cxn modelId="{5B3C3AF1-5CAF-479C-B7D7-31FC1F616DFB}" type="presOf" srcId="{472E58A0-6F2B-4788-BC45-2559EEDB8F51}" destId="{9A56163E-E488-4E90-8E20-B24E41F3ADEB}" srcOrd="0" destOrd="0" presId="urn:microsoft.com/office/officeart/2005/8/layout/vList5"/>
    <dgm:cxn modelId="{3FCEB038-6751-474B-81C9-C67730E5EBB0}" type="presParOf" srcId="{9A56163E-E488-4E90-8E20-B24E41F3ADEB}" destId="{0ACB1D3D-5925-4CDE-AD0E-2BECA1602130}" srcOrd="0" destOrd="0" presId="urn:microsoft.com/office/officeart/2005/8/layout/vList5"/>
    <dgm:cxn modelId="{93882BA8-3496-43CE-BAFD-A110FAB5D6B5}" type="presParOf" srcId="{0ACB1D3D-5925-4CDE-AD0E-2BECA1602130}" destId="{89E2E048-BEFD-4CBA-B6E2-AC8194D0A761}" srcOrd="0" destOrd="0" presId="urn:microsoft.com/office/officeart/2005/8/layout/vList5"/>
    <dgm:cxn modelId="{D9E94473-1744-4FC9-88A3-F1BFC6137C8B}" type="presParOf" srcId="{9A56163E-E488-4E90-8E20-B24E41F3ADEB}" destId="{8226CD28-EE57-47C5-ACC3-3CF8EFB4414C}" srcOrd="1" destOrd="0" presId="urn:microsoft.com/office/officeart/2005/8/layout/vList5"/>
    <dgm:cxn modelId="{C4ACBBC8-9B4A-4C15-88CF-1BF1B34610B4}" type="presParOf" srcId="{9A56163E-E488-4E90-8E20-B24E41F3ADEB}" destId="{FD5526A8-8ED1-4DBF-A240-BBB4DC346CD9}" srcOrd="2" destOrd="0" presId="urn:microsoft.com/office/officeart/2005/8/layout/vList5"/>
    <dgm:cxn modelId="{DEF303D2-12CD-405D-A829-9FC8915FEF21}" type="presParOf" srcId="{FD5526A8-8ED1-4DBF-A240-BBB4DC346CD9}" destId="{B0652788-7992-4B37-91A5-4D1442509106}" srcOrd="0" destOrd="0" presId="urn:microsoft.com/office/officeart/2005/8/layout/vList5"/>
    <dgm:cxn modelId="{1350BEEA-25B9-4E6E-9357-F430C07B6AC7}" type="presParOf" srcId="{9A56163E-E488-4E90-8E20-B24E41F3ADEB}" destId="{3C648D88-5615-49BE-A199-6FDD83FE5077}" srcOrd="3" destOrd="0" presId="urn:microsoft.com/office/officeart/2005/8/layout/vList5"/>
    <dgm:cxn modelId="{E6A3A8CD-7FB4-4D35-A994-436CF1AEAEB7}" type="presParOf" srcId="{9A56163E-E488-4E90-8E20-B24E41F3ADEB}" destId="{BF80D823-1A5D-4005-A17A-61C239AC8219}" srcOrd="4" destOrd="0" presId="urn:microsoft.com/office/officeart/2005/8/layout/vList5"/>
    <dgm:cxn modelId="{92F8080F-9310-4807-8D0C-D54A6C35BF52}" type="presParOf" srcId="{BF80D823-1A5D-4005-A17A-61C239AC8219}" destId="{4524BD02-D872-421A-809F-483001B840F1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FE884BF-2550-4351-B615-C8EA39C3F795}" type="doc">
      <dgm:prSet loTypeId="urn:microsoft.com/office/officeart/2005/8/layout/hProcess9" loCatId="process" qsTypeId="urn:microsoft.com/office/officeart/2005/8/quickstyle/simple1" qsCatId="simple" csTypeId="urn:microsoft.com/office/officeart/2005/8/colors/accent1_1" csCatId="accent1"/>
      <dgm:spPr/>
      <dgm:t>
        <a:bodyPr/>
        <a:lstStyle/>
        <a:p>
          <a:endParaRPr lang="en-US"/>
        </a:p>
      </dgm:t>
    </dgm:pt>
    <dgm:pt modelId="{202B5546-A5C9-4987-9281-B057504EFE7C}">
      <dgm:prSet/>
      <dgm:spPr/>
      <dgm:t>
        <a:bodyPr/>
        <a:lstStyle/>
        <a:p>
          <a:pPr rtl="0"/>
          <a:r>
            <a:rPr lang="en-US" smtClean="0"/>
            <a:t>Did intership in the corporate office of Hameem Group, one of the largest RMG manufacturers in Bangladesh</a:t>
          </a:r>
          <a:endParaRPr lang="en-US"/>
        </a:p>
      </dgm:t>
    </dgm:pt>
    <dgm:pt modelId="{D76509D8-6DB8-4E3C-8E61-5EBA1B20A9DE}" type="parTrans" cxnId="{5C663C19-2835-4D16-85F6-278DE4F8B5DD}">
      <dgm:prSet/>
      <dgm:spPr/>
      <dgm:t>
        <a:bodyPr/>
        <a:lstStyle/>
        <a:p>
          <a:endParaRPr lang="en-US"/>
        </a:p>
      </dgm:t>
    </dgm:pt>
    <dgm:pt modelId="{36A95A25-6D80-4D12-A275-3BB0BFED1C30}" type="sibTrans" cxnId="{5C663C19-2835-4D16-85F6-278DE4F8B5DD}">
      <dgm:prSet/>
      <dgm:spPr/>
      <dgm:t>
        <a:bodyPr/>
        <a:lstStyle/>
        <a:p>
          <a:endParaRPr lang="en-US"/>
        </a:p>
      </dgm:t>
    </dgm:pt>
    <dgm:pt modelId="{0EC39B9A-04E6-4E3F-B39E-289B0534CB48}">
      <dgm:prSet/>
      <dgm:spPr/>
      <dgm:t>
        <a:bodyPr/>
        <a:lstStyle/>
        <a:p>
          <a:pPr rtl="0"/>
          <a:r>
            <a:rPr lang="en-US" smtClean="0"/>
            <a:t>The company heavily uses CCTC surveillance in their corporate offices</a:t>
          </a:r>
          <a:endParaRPr lang="en-US"/>
        </a:p>
      </dgm:t>
    </dgm:pt>
    <dgm:pt modelId="{E71D4E47-AF6A-47EE-A8D3-3B2B3E3F74AA}" type="parTrans" cxnId="{2784C4CB-12FC-4003-9512-DB29147221A5}">
      <dgm:prSet/>
      <dgm:spPr/>
      <dgm:t>
        <a:bodyPr/>
        <a:lstStyle/>
        <a:p>
          <a:endParaRPr lang="en-US"/>
        </a:p>
      </dgm:t>
    </dgm:pt>
    <dgm:pt modelId="{AA85E472-72BA-447D-9FAD-840B3A9CEB18}" type="sibTrans" cxnId="{2784C4CB-12FC-4003-9512-DB29147221A5}">
      <dgm:prSet/>
      <dgm:spPr/>
      <dgm:t>
        <a:bodyPr/>
        <a:lstStyle/>
        <a:p>
          <a:endParaRPr lang="en-US"/>
        </a:p>
      </dgm:t>
    </dgm:pt>
    <dgm:pt modelId="{B9DAB996-1EDD-4945-9BD0-8FED7DCA3F67}">
      <dgm:prSet/>
      <dgm:spPr/>
      <dgm:t>
        <a:bodyPr/>
        <a:lstStyle/>
        <a:p>
          <a:pPr rtl="0"/>
          <a:r>
            <a:rPr lang="en-US" smtClean="0"/>
            <a:t>Any information to help employee well-being beneficial for both the owners and the employees</a:t>
          </a:r>
          <a:endParaRPr lang="en-US"/>
        </a:p>
      </dgm:t>
    </dgm:pt>
    <dgm:pt modelId="{15BB4C65-DAAF-45A7-91C4-7C95AC8EF871}" type="parTrans" cxnId="{F881AB67-3850-419F-BCBE-06948C776C1E}">
      <dgm:prSet/>
      <dgm:spPr/>
      <dgm:t>
        <a:bodyPr/>
        <a:lstStyle/>
        <a:p>
          <a:endParaRPr lang="en-US"/>
        </a:p>
      </dgm:t>
    </dgm:pt>
    <dgm:pt modelId="{74B16EAD-BCAC-4BA7-A62D-992C6E226C19}" type="sibTrans" cxnId="{F881AB67-3850-419F-BCBE-06948C776C1E}">
      <dgm:prSet/>
      <dgm:spPr/>
      <dgm:t>
        <a:bodyPr/>
        <a:lstStyle/>
        <a:p>
          <a:endParaRPr lang="en-US"/>
        </a:p>
      </dgm:t>
    </dgm:pt>
    <dgm:pt modelId="{2EB41955-A300-410E-A0E1-4342CCACAD69}" type="pres">
      <dgm:prSet presAssocID="{AFE884BF-2550-4351-B615-C8EA39C3F795}" presName="CompostProcess" presStyleCnt="0">
        <dgm:presLayoutVars>
          <dgm:dir/>
          <dgm:resizeHandles val="exact"/>
        </dgm:presLayoutVars>
      </dgm:prSet>
      <dgm:spPr/>
    </dgm:pt>
    <dgm:pt modelId="{269F2A69-414E-4C81-AE75-BD7574251D52}" type="pres">
      <dgm:prSet presAssocID="{AFE884BF-2550-4351-B615-C8EA39C3F795}" presName="arrow" presStyleLbl="bgShp" presStyleIdx="0" presStyleCnt="1"/>
      <dgm:spPr/>
    </dgm:pt>
    <dgm:pt modelId="{F4CE6CCA-2AF7-4A47-A825-884BCB7DC82F}" type="pres">
      <dgm:prSet presAssocID="{AFE884BF-2550-4351-B615-C8EA39C3F795}" presName="linearProcess" presStyleCnt="0"/>
      <dgm:spPr/>
    </dgm:pt>
    <dgm:pt modelId="{ECD66E99-9160-483F-A62C-F9FA3EC29B70}" type="pres">
      <dgm:prSet presAssocID="{202B5546-A5C9-4987-9281-B057504EFE7C}" presName="textNode" presStyleLbl="node1" presStyleIdx="0" presStyleCnt="3">
        <dgm:presLayoutVars>
          <dgm:bulletEnabled val="1"/>
        </dgm:presLayoutVars>
      </dgm:prSet>
      <dgm:spPr/>
    </dgm:pt>
    <dgm:pt modelId="{9E48778D-FC13-4EE5-B51F-83F64A52FF9B}" type="pres">
      <dgm:prSet presAssocID="{36A95A25-6D80-4D12-A275-3BB0BFED1C30}" presName="sibTrans" presStyleCnt="0"/>
      <dgm:spPr/>
    </dgm:pt>
    <dgm:pt modelId="{815AF835-A9BE-4588-AA98-C3406ECAAFC1}" type="pres">
      <dgm:prSet presAssocID="{0EC39B9A-04E6-4E3F-B39E-289B0534CB48}" presName="textNode" presStyleLbl="node1" presStyleIdx="1" presStyleCnt="3">
        <dgm:presLayoutVars>
          <dgm:bulletEnabled val="1"/>
        </dgm:presLayoutVars>
      </dgm:prSet>
      <dgm:spPr/>
    </dgm:pt>
    <dgm:pt modelId="{93EB2A1F-18B7-4A31-B72E-C79914DDDCA1}" type="pres">
      <dgm:prSet presAssocID="{AA85E472-72BA-447D-9FAD-840B3A9CEB18}" presName="sibTrans" presStyleCnt="0"/>
      <dgm:spPr/>
    </dgm:pt>
    <dgm:pt modelId="{8C28BA34-6CDF-4D7D-95E0-62D769DB1DAA}" type="pres">
      <dgm:prSet presAssocID="{B9DAB996-1EDD-4945-9BD0-8FED7DCA3F67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BC592BD3-A00A-4CAF-8F3C-6EB9D1BF748D}" type="presOf" srcId="{0EC39B9A-04E6-4E3F-B39E-289B0534CB48}" destId="{815AF835-A9BE-4588-AA98-C3406ECAAFC1}" srcOrd="0" destOrd="0" presId="urn:microsoft.com/office/officeart/2005/8/layout/hProcess9"/>
    <dgm:cxn modelId="{F881AB67-3850-419F-BCBE-06948C776C1E}" srcId="{AFE884BF-2550-4351-B615-C8EA39C3F795}" destId="{B9DAB996-1EDD-4945-9BD0-8FED7DCA3F67}" srcOrd="2" destOrd="0" parTransId="{15BB4C65-DAAF-45A7-91C4-7C95AC8EF871}" sibTransId="{74B16EAD-BCAC-4BA7-A62D-992C6E226C19}"/>
    <dgm:cxn modelId="{6C5F3917-F008-447A-85FA-56C7AD76058A}" type="presOf" srcId="{B9DAB996-1EDD-4945-9BD0-8FED7DCA3F67}" destId="{8C28BA34-6CDF-4D7D-95E0-62D769DB1DAA}" srcOrd="0" destOrd="0" presId="urn:microsoft.com/office/officeart/2005/8/layout/hProcess9"/>
    <dgm:cxn modelId="{C530E6C7-ECF2-4E25-9A9B-4C99334B49DA}" type="presOf" srcId="{AFE884BF-2550-4351-B615-C8EA39C3F795}" destId="{2EB41955-A300-410E-A0E1-4342CCACAD69}" srcOrd="0" destOrd="0" presId="urn:microsoft.com/office/officeart/2005/8/layout/hProcess9"/>
    <dgm:cxn modelId="{159A2206-0FD5-43E9-AD57-E8779D493861}" type="presOf" srcId="{202B5546-A5C9-4987-9281-B057504EFE7C}" destId="{ECD66E99-9160-483F-A62C-F9FA3EC29B70}" srcOrd="0" destOrd="0" presId="urn:microsoft.com/office/officeart/2005/8/layout/hProcess9"/>
    <dgm:cxn modelId="{5C663C19-2835-4D16-85F6-278DE4F8B5DD}" srcId="{AFE884BF-2550-4351-B615-C8EA39C3F795}" destId="{202B5546-A5C9-4987-9281-B057504EFE7C}" srcOrd="0" destOrd="0" parTransId="{D76509D8-6DB8-4E3C-8E61-5EBA1B20A9DE}" sibTransId="{36A95A25-6D80-4D12-A275-3BB0BFED1C30}"/>
    <dgm:cxn modelId="{2784C4CB-12FC-4003-9512-DB29147221A5}" srcId="{AFE884BF-2550-4351-B615-C8EA39C3F795}" destId="{0EC39B9A-04E6-4E3F-B39E-289B0534CB48}" srcOrd="1" destOrd="0" parTransId="{E71D4E47-AF6A-47EE-A8D3-3B2B3E3F74AA}" sibTransId="{AA85E472-72BA-447D-9FAD-840B3A9CEB18}"/>
    <dgm:cxn modelId="{027AAE5B-926E-47A9-8314-B457C171242D}" type="presParOf" srcId="{2EB41955-A300-410E-A0E1-4342CCACAD69}" destId="{269F2A69-414E-4C81-AE75-BD7574251D52}" srcOrd="0" destOrd="0" presId="urn:microsoft.com/office/officeart/2005/8/layout/hProcess9"/>
    <dgm:cxn modelId="{AA30F0CF-445E-477D-AF9C-1241B2CC0914}" type="presParOf" srcId="{2EB41955-A300-410E-A0E1-4342CCACAD69}" destId="{F4CE6CCA-2AF7-4A47-A825-884BCB7DC82F}" srcOrd="1" destOrd="0" presId="urn:microsoft.com/office/officeart/2005/8/layout/hProcess9"/>
    <dgm:cxn modelId="{B3457CE2-5F43-4F2B-BEE8-B4E430F70199}" type="presParOf" srcId="{F4CE6CCA-2AF7-4A47-A825-884BCB7DC82F}" destId="{ECD66E99-9160-483F-A62C-F9FA3EC29B70}" srcOrd="0" destOrd="0" presId="urn:microsoft.com/office/officeart/2005/8/layout/hProcess9"/>
    <dgm:cxn modelId="{447814A5-679A-4DBA-B7EB-A1FB8C9C7B4D}" type="presParOf" srcId="{F4CE6CCA-2AF7-4A47-A825-884BCB7DC82F}" destId="{9E48778D-FC13-4EE5-B51F-83F64A52FF9B}" srcOrd="1" destOrd="0" presId="urn:microsoft.com/office/officeart/2005/8/layout/hProcess9"/>
    <dgm:cxn modelId="{0F855D06-C4BF-4473-8418-7E42789F43D3}" type="presParOf" srcId="{F4CE6CCA-2AF7-4A47-A825-884BCB7DC82F}" destId="{815AF835-A9BE-4588-AA98-C3406ECAAFC1}" srcOrd="2" destOrd="0" presId="urn:microsoft.com/office/officeart/2005/8/layout/hProcess9"/>
    <dgm:cxn modelId="{59305827-8F07-43F0-B589-38C4F19DCFA0}" type="presParOf" srcId="{F4CE6CCA-2AF7-4A47-A825-884BCB7DC82F}" destId="{93EB2A1F-18B7-4A31-B72E-C79914DDDCA1}" srcOrd="3" destOrd="0" presId="urn:microsoft.com/office/officeart/2005/8/layout/hProcess9"/>
    <dgm:cxn modelId="{842015C4-EB6D-4F75-9EDC-9797F209DBF5}" type="presParOf" srcId="{F4CE6CCA-2AF7-4A47-A825-884BCB7DC82F}" destId="{8C28BA34-6CDF-4D7D-95E0-62D769DB1DAA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1FF15C1-1691-4435-9F8B-BC83402E750E}" type="doc">
      <dgm:prSet loTypeId="urn:microsoft.com/office/officeart/2005/8/layout/orgChart1" loCatId="hierarchy" qsTypeId="urn:microsoft.com/office/officeart/2005/8/quickstyle/simple1" qsCatId="simple" csTypeId="urn:microsoft.com/office/officeart/2005/8/colors/accent1_1" csCatId="accent1"/>
      <dgm:spPr/>
      <dgm:t>
        <a:bodyPr/>
        <a:lstStyle/>
        <a:p>
          <a:endParaRPr lang="en-US"/>
        </a:p>
      </dgm:t>
    </dgm:pt>
    <dgm:pt modelId="{5F5EF4D4-D3BB-4910-9A1A-DAD7F2377533}">
      <dgm:prSet/>
      <dgm:spPr/>
      <dgm:t>
        <a:bodyPr/>
        <a:lstStyle/>
        <a:p>
          <a:pPr rtl="0"/>
          <a:r>
            <a:rPr lang="en-US" smtClean="0"/>
            <a:t>Find out what effect CCTV surveillance had in making employees more focused and involved in their work </a:t>
          </a:r>
          <a:endParaRPr lang="en-US"/>
        </a:p>
      </dgm:t>
    </dgm:pt>
    <dgm:pt modelId="{262B6EFE-BA61-4B6D-BA1F-E7436C2EF2D7}" type="parTrans" cxnId="{2005EC16-4DC8-48CC-B43B-85EB405C7606}">
      <dgm:prSet/>
      <dgm:spPr/>
      <dgm:t>
        <a:bodyPr/>
        <a:lstStyle/>
        <a:p>
          <a:endParaRPr lang="en-US"/>
        </a:p>
      </dgm:t>
    </dgm:pt>
    <dgm:pt modelId="{853F3DB2-7275-4148-B353-7B27857803FD}" type="sibTrans" cxnId="{2005EC16-4DC8-48CC-B43B-85EB405C7606}">
      <dgm:prSet/>
      <dgm:spPr/>
      <dgm:t>
        <a:bodyPr/>
        <a:lstStyle/>
        <a:p>
          <a:endParaRPr lang="en-US"/>
        </a:p>
      </dgm:t>
    </dgm:pt>
    <dgm:pt modelId="{4216227C-D6E3-4C98-9668-3E15A3FA6E45}">
      <dgm:prSet/>
      <dgm:spPr/>
      <dgm:t>
        <a:bodyPr/>
        <a:lstStyle/>
        <a:p>
          <a:pPr rtl="0"/>
          <a:r>
            <a:rPr lang="en-US" smtClean="0"/>
            <a:t>Find out what effect CCTV surveillance has on creating a supportive work environment for employees </a:t>
          </a:r>
          <a:endParaRPr lang="en-US"/>
        </a:p>
      </dgm:t>
    </dgm:pt>
    <dgm:pt modelId="{91022A43-5A8F-45C9-99A4-8E1915C34873}" type="parTrans" cxnId="{2BFA25DF-25AA-439C-983A-B250112E049C}">
      <dgm:prSet/>
      <dgm:spPr/>
      <dgm:t>
        <a:bodyPr/>
        <a:lstStyle/>
        <a:p>
          <a:endParaRPr lang="en-US"/>
        </a:p>
      </dgm:t>
    </dgm:pt>
    <dgm:pt modelId="{5E16840D-FFE5-49AC-8EE3-B1B3279D5668}" type="sibTrans" cxnId="{2BFA25DF-25AA-439C-983A-B250112E049C}">
      <dgm:prSet/>
      <dgm:spPr/>
      <dgm:t>
        <a:bodyPr/>
        <a:lstStyle/>
        <a:p>
          <a:endParaRPr lang="en-US"/>
        </a:p>
      </dgm:t>
    </dgm:pt>
    <dgm:pt modelId="{894A57CC-6561-4F98-808E-6E734099497D}">
      <dgm:prSet/>
      <dgm:spPr/>
      <dgm:t>
        <a:bodyPr/>
        <a:lstStyle/>
        <a:p>
          <a:pPr rtl="0"/>
          <a:r>
            <a:rPr lang="en-US" smtClean="0"/>
            <a:t>Find out what effect CCTV surveillance had on employees’ feelings towards their organization </a:t>
          </a:r>
          <a:endParaRPr lang="en-US"/>
        </a:p>
      </dgm:t>
    </dgm:pt>
    <dgm:pt modelId="{B4556C07-BC47-489C-8F84-A264E8959DAA}" type="parTrans" cxnId="{3029A013-6760-475F-9D9E-8ED98CCA47A8}">
      <dgm:prSet/>
      <dgm:spPr/>
      <dgm:t>
        <a:bodyPr/>
        <a:lstStyle/>
        <a:p>
          <a:endParaRPr lang="en-US"/>
        </a:p>
      </dgm:t>
    </dgm:pt>
    <dgm:pt modelId="{D618FA04-9D11-4336-B4A6-AC1E58EA6F7D}" type="sibTrans" cxnId="{3029A013-6760-475F-9D9E-8ED98CCA47A8}">
      <dgm:prSet/>
      <dgm:spPr/>
      <dgm:t>
        <a:bodyPr/>
        <a:lstStyle/>
        <a:p>
          <a:endParaRPr lang="en-US"/>
        </a:p>
      </dgm:t>
    </dgm:pt>
    <dgm:pt modelId="{B0902756-00F0-43D5-A85E-8BD33ECD1A1A}" type="pres">
      <dgm:prSet presAssocID="{31FF15C1-1691-4435-9F8B-BC83402E750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3B4A212-A51A-4190-B10E-1562C7E8487F}" type="pres">
      <dgm:prSet presAssocID="{5F5EF4D4-D3BB-4910-9A1A-DAD7F2377533}" presName="hierRoot1" presStyleCnt="0">
        <dgm:presLayoutVars>
          <dgm:hierBranch val="init"/>
        </dgm:presLayoutVars>
      </dgm:prSet>
      <dgm:spPr/>
    </dgm:pt>
    <dgm:pt modelId="{3702BA74-E350-4AA8-825A-4053B97E0B61}" type="pres">
      <dgm:prSet presAssocID="{5F5EF4D4-D3BB-4910-9A1A-DAD7F2377533}" presName="rootComposite1" presStyleCnt="0"/>
      <dgm:spPr/>
    </dgm:pt>
    <dgm:pt modelId="{ACE3393B-3738-4D58-B2A8-4D2A6B830298}" type="pres">
      <dgm:prSet presAssocID="{5F5EF4D4-D3BB-4910-9A1A-DAD7F2377533}" presName="rootText1" presStyleLbl="node0" presStyleIdx="0" presStyleCnt="3">
        <dgm:presLayoutVars>
          <dgm:chPref val="3"/>
        </dgm:presLayoutVars>
      </dgm:prSet>
      <dgm:spPr/>
    </dgm:pt>
    <dgm:pt modelId="{BD51DC6A-4D27-46F6-919B-E9253D5FD20F}" type="pres">
      <dgm:prSet presAssocID="{5F5EF4D4-D3BB-4910-9A1A-DAD7F2377533}" presName="rootConnector1" presStyleLbl="node1" presStyleIdx="0" presStyleCnt="0"/>
      <dgm:spPr/>
    </dgm:pt>
    <dgm:pt modelId="{8B945AEB-C2F8-4402-AA4D-69D2F9AD61E6}" type="pres">
      <dgm:prSet presAssocID="{5F5EF4D4-D3BB-4910-9A1A-DAD7F2377533}" presName="hierChild2" presStyleCnt="0"/>
      <dgm:spPr/>
    </dgm:pt>
    <dgm:pt modelId="{01FB6823-E961-433C-9B48-D957110054C1}" type="pres">
      <dgm:prSet presAssocID="{5F5EF4D4-D3BB-4910-9A1A-DAD7F2377533}" presName="hierChild3" presStyleCnt="0"/>
      <dgm:spPr/>
    </dgm:pt>
    <dgm:pt modelId="{7BC5C588-4E14-4F2D-A717-D2EF8FDD7229}" type="pres">
      <dgm:prSet presAssocID="{4216227C-D6E3-4C98-9668-3E15A3FA6E45}" presName="hierRoot1" presStyleCnt="0">
        <dgm:presLayoutVars>
          <dgm:hierBranch val="init"/>
        </dgm:presLayoutVars>
      </dgm:prSet>
      <dgm:spPr/>
    </dgm:pt>
    <dgm:pt modelId="{9A9BF8B2-EF00-4949-A715-2E778D67C0F8}" type="pres">
      <dgm:prSet presAssocID="{4216227C-D6E3-4C98-9668-3E15A3FA6E45}" presName="rootComposite1" presStyleCnt="0"/>
      <dgm:spPr/>
    </dgm:pt>
    <dgm:pt modelId="{207C9C8A-2D98-442C-96C6-8A2A4BAA9EED}" type="pres">
      <dgm:prSet presAssocID="{4216227C-D6E3-4C98-9668-3E15A3FA6E45}" presName="rootText1" presStyleLbl="node0" presStyleIdx="1" presStyleCnt="3">
        <dgm:presLayoutVars>
          <dgm:chPref val="3"/>
        </dgm:presLayoutVars>
      </dgm:prSet>
      <dgm:spPr/>
    </dgm:pt>
    <dgm:pt modelId="{C78B7A29-1AED-4707-BF97-865878BD0B2C}" type="pres">
      <dgm:prSet presAssocID="{4216227C-D6E3-4C98-9668-3E15A3FA6E45}" presName="rootConnector1" presStyleLbl="node1" presStyleIdx="0" presStyleCnt="0"/>
      <dgm:spPr/>
    </dgm:pt>
    <dgm:pt modelId="{11F6B0AF-3124-4EE8-BAAC-3AABFCE26CFE}" type="pres">
      <dgm:prSet presAssocID="{4216227C-D6E3-4C98-9668-3E15A3FA6E45}" presName="hierChild2" presStyleCnt="0"/>
      <dgm:spPr/>
    </dgm:pt>
    <dgm:pt modelId="{FFAC4D5D-F5F0-462F-9B65-580ACE088F48}" type="pres">
      <dgm:prSet presAssocID="{4216227C-D6E3-4C98-9668-3E15A3FA6E45}" presName="hierChild3" presStyleCnt="0"/>
      <dgm:spPr/>
    </dgm:pt>
    <dgm:pt modelId="{6F436ED3-15E6-42D2-A6C4-062243695416}" type="pres">
      <dgm:prSet presAssocID="{894A57CC-6561-4F98-808E-6E734099497D}" presName="hierRoot1" presStyleCnt="0">
        <dgm:presLayoutVars>
          <dgm:hierBranch val="init"/>
        </dgm:presLayoutVars>
      </dgm:prSet>
      <dgm:spPr/>
    </dgm:pt>
    <dgm:pt modelId="{C3C83D2E-53AD-4303-9336-0D533F694B0F}" type="pres">
      <dgm:prSet presAssocID="{894A57CC-6561-4F98-808E-6E734099497D}" presName="rootComposite1" presStyleCnt="0"/>
      <dgm:spPr/>
    </dgm:pt>
    <dgm:pt modelId="{CCACF7EF-EB88-4CB2-8528-7BD017ABD8AC}" type="pres">
      <dgm:prSet presAssocID="{894A57CC-6561-4F98-808E-6E734099497D}" presName="rootText1" presStyleLbl="node0" presStyleIdx="2" presStyleCnt="3">
        <dgm:presLayoutVars>
          <dgm:chPref val="3"/>
        </dgm:presLayoutVars>
      </dgm:prSet>
      <dgm:spPr/>
    </dgm:pt>
    <dgm:pt modelId="{D38A711C-636E-4625-B2CD-6C6C4BF0F5FC}" type="pres">
      <dgm:prSet presAssocID="{894A57CC-6561-4F98-808E-6E734099497D}" presName="rootConnector1" presStyleLbl="node1" presStyleIdx="0" presStyleCnt="0"/>
      <dgm:spPr/>
    </dgm:pt>
    <dgm:pt modelId="{F9D5D11B-CAC9-46E3-A57A-EA6A890DCF46}" type="pres">
      <dgm:prSet presAssocID="{894A57CC-6561-4F98-808E-6E734099497D}" presName="hierChild2" presStyleCnt="0"/>
      <dgm:spPr/>
    </dgm:pt>
    <dgm:pt modelId="{18AA0930-91AE-49A2-B800-2F57D4EE079E}" type="pres">
      <dgm:prSet presAssocID="{894A57CC-6561-4F98-808E-6E734099497D}" presName="hierChild3" presStyleCnt="0"/>
      <dgm:spPr/>
    </dgm:pt>
  </dgm:ptLst>
  <dgm:cxnLst>
    <dgm:cxn modelId="{45AE54F6-BFB3-4924-9138-A1D06BDED69C}" type="presOf" srcId="{4216227C-D6E3-4C98-9668-3E15A3FA6E45}" destId="{C78B7A29-1AED-4707-BF97-865878BD0B2C}" srcOrd="1" destOrd="0" presId="urn:microsoft.com/office/officeart/2005/8/layout/orgChart1"/>
    <dgm:cxn modelId="{2C5BA6BC-50B4-490A-80DA-FE02E6F61708}" type="presOf" srcId="{894A57CC-6561-4F98-808E-6E734099497D}" destId="{D38A711C-636E-4625-B2CD-6C6C4BF0F5FC}" srcOrd="1" destOrd="0" presId="urn:microsoft.com/office/officeart/2005/8/layout/orgChart1"/>
    <dgm:cxn modelId="{DD68FBFC-4776-47BE-9F55-114793415693}" type="presOf" srcId="{4216227C-D6E3-4C98-9668-3E15A3FA6E45}" destId="{207C9C8A-2D98-442C-96C6-8A2A4BAA9EED}" srcOrd="0" destOrd="0" presId="urn:microsoft.com/office/officeart/2005/8/layout/orgChart1"/>
    <dgm:cxn modelId="{19B60777-DF82-461D-915D-E8ED359F2909}" type="presOf" srcId="{894A57CC-6561-4F98-808E-6E734099497D}" destId="{CCACF7EF-EB88-4CB2-8528-7BD017ABD8AC}" srcOrd="0" destOrd="0" presId="urn:microsoft.com/office/officeart/2005/8/layout/orgChart1"/>
    <dgm:cxn modelId="{CB568387-76F9-4DA6-BA36-13E771397244}" type="presOf" srcId="{5F5EF4D4-D3BB-4910-9A1A-DAD7F2377533}" destId="{BD51DC6A-4D27-46F6-919B-E9253D5FD20F}" srcOrd="1" destOrd="0" presId="urn:microsoft.com/office/officeart/2005/8/layout/orgChart1"/>
    <dgm:cxn modelId="{2BFA25DF-25AA-439C-983A-B250112E049C}" srcId="{31FF15C1-1691-4435-9F8B-BC83402E750E}" destId="{4216227C-D6E3-4C98-9668-3E15A3FA6E45}" srcOrd="1" destOrd="0" parTransId="{91022A43-5A8F-45C9-99A4-8E1915C34873}" sibTransId="{5E16840D-FFE5-49AC-8EE3-B1B3279D5668}"/>
    <dgm:cxn modelId="{3029A013-6760-475F-9D9E-8ED98CCA47A8}" srcId="{31FF15C1-1691-4435-9F8B-BC83402E750E}" destId="{894A57CC-6561-4F98-808E-6E734099497D}" srcOrd="2" destOrd="0" parTransId="{B4556C07-BC47-489C-8F84-A264E8959DAA}" sibTransId="{D618FA04-9D11-4336-B4A6-AC1E58EA6F7D}"/>
    <dgm:cxn modelId="{D05D708C-2536-4902-865F-4AD01AEF044E}" type="presOf" srcId="{5F5EF4D4-D3BB-4910-9A1A-DAD7F2377533}" destId="{ACE3393B-3738-4D58-B2A8-4D2A6B830298}" srcOrd="0" destOrd="0" presId="urn:microsoft.com/office/officeart/2005/8/layout/orgChart1"/>
    <dgm:cxn modelId="{2005EC16-4DC8-48CC-B43B-85EB405C7606}" srcId="{31FF15C1-1691-4435-9F8B-BC83402E750E}" destId="{5F5EF4D4-D3BB-4910-9A1A-DAD7F2377533}" srcOrd="0" destOrd="0" parTransId="{262B6EFE-BA61-4B6D-BA1F-E7436C2EF2D7}" sibTransId="{853F3DB2-7275-4148-B353-7B27857803FD}"/>
    <dgm:cxn modelId="{9F4169B7-3506-430B-B441-E370496CF67F}" type="presOf" srcId="{31FF15C1-1691-4435-9F8B-BC83402E750E}" destId="{B0902756-00F0-43D5-A85E-8BD33ECD1A1A}" srcOrd="0" destOrd="0" presId="urn:microsoft.com/office/officeart/2005/8/layout/orgChart1"/>
    <dgm:cxn modelId="{57542219-EDB1-4ACF-B381-E2BDA3B4FEEA}" type="presParOf" srcId="{B0902756-00F0-43D5-A85E-8BD33ECD1A1A}" destId="{73B4A212-A51A-4190-B10E-1562C7E8487F}" srcOrd="0" destOrd="0" presId="urn:microsoft.com/office/officeart/2005/8/layout/orgChart1"/>
    <dgm:cxn modelId="{78C264B8-4FE5-40A5-9B3C-B0B688E3EC93}" type="presParOf" srcId="{73B4A212-A51A-4190-B10E-1562C7E8487F}" destId="{3702BA74-E350-4AA8-825A-4053B97E0B61}" srcOrd="0" destOrd="0" presId="urn:microsoft.com/office/officeart/2005/8/layout/orgChart1"/>
    <dgm:cxn modelId="{41F28093-C462-4015-B84F-8C501E0E7103}" type="presParOf" srcId="{3702BA74-E350-4AA8-825A-4053B97E0B61}" destId="{ACE3393B-3738-4D58-B2A8-4D2A6B830298}" srcOrd="0" destOrd="0" presId="urn:microsoft.com/office/officeart/2005/8/layout/orgChart1"/>
    <dgm:cxn modelId="{D3825A58-562A-4A14-BDE8-196FC320E2A8}" type="presParOf" srcId="{3702BA74-E350-4AA8-825A-4053B97E0B61}" destId="{BD51DC6A-4D27-46F6-919B-E9253D5FD20F}" srcOrd="1" destOrd="0" presId="urn:microsoft.com/office/officeart/2005/8/layout/orgChart1"/>
    <dgm:cxn modelId="{F2B7E488-5CE5-45AB-B414-BC39EFBF0356}" type="presParOf" srcId="{73B4A212-A51A-4190-B10E-1562C7E8487F}" destId="{8B945AEB-C2F8-4402-AA4D-69D2F9AD61E6}" srcOrd="1" destOrd="0" presId="urn:microsoft.com/office/officeart/2005/8/layout/orgChart1"/>
    <dgm:cxn modelId="{59098280-00D2-4A37-9848-A9A15B7E4FF6}" type="presParOf" srcId="{73B4A212-A51A-4190-B10E-1562C7E8487F}" destId="{01FB6823-E961-433C-9B48-D957110054C1}" srcOrd="2" destOrd="0" presId="urn:microsoft.com/office/officeart/2005/8/layout/orgChart1"/>
    <dgm:cxn modelId="{E9C5A0E7-C420-4240-B2D5-89A51A6927B2}" type="presParOf" srcId="{B0902756-00F0-43D5-A85E-8BD33ECD1A1A}" destId="{7BC5C588-4E14-4F2D-A717-D2EF8FDD7229}" srcOrd="1" destOrd="0" presId="urn:microsoft.com/office/officeart/2005/8/layout/orgChart1"/>
    <dgm:cxn modelId="{E1CA8635-AC2A-4FE2-9C9B-5BF850D3AE6D}" type="presParOf" srcId="{7BC5C588-4E14-4F2D-A717-D2EF8FDD7229}" destId="{9A9BF8B2-EF00-4949-A715-2E778D67C0F8}" srcOrd="0" destOrd="0" presId="urn:microsoft.com/office/officeart/2005/8/layout/orgChart1"/>
    <dgm:cxn modelId="{1A2829F7-C140-4080-9544-A7BA39CA9917}" type="presParOf" srcId="{9A9BF8B2-EF00-4949-A715-2E778D67C0F8}" destId="{207C9C8A-2D98-442C-96C6-8A2A4BAA9EED}" srcOrd="0" destOrd="0" presId="urn:microsoft.com/office/officeart/2005/8/layout/orgChart1"/>
    <dgm:cxn modelId="{D57D1A78-9031-4F45-B889-F8E3F7EF3777}" type="presParOf" srcId="{9A9BF8B2-EF00-4949-A715-2E778D67C0F8}" destId="{C78B7A29-1AED-4707-BF97-865878BD0B2C}" srcOrd="1" destOrd="0" presId="urn:microsoft.com/office/officeart/2005/8/layout/orgChart1"/>
    <dgm:cxn modelId="{602CC0D3-EA99-48E3-ABA1-0E98806E7580}" type="presParOf" srcId="{7BC5C588-4E14-4F2D-A717-D2EF8FDD7229}" destId="{11F6B0AF-3124-4EE8-BAAC-3AABFCE26CFE}" srcOrd="1" destOrd="0" presId="urn:microsoft.com/office/officeart/2005/8/layout/orgChart1"/>
    <dgm:cxn modelId="{781DF6E0-59A6-4ADA-869A-64E5297D1A8D}" type="presParOf" srcId="{7BC5C588-4E14-4F2D-A717-D2EF8FDD7229}" destId="{FFAC4D5D-F5F0-462F-9B65-580ACE088F48}" srcOrd="2" destOrd="0" presId="urn:microsoft.com/office/officeart/2005/8/layout/orgChart1"/>
    <dgm:cxn modelId="{B86E8EBA-A647-445D-BD88-E511C74772E0}" type="presParOf" srcId="{B0902756-00F0-43D5-A85E-8BD33ECD1A1A}" destId="{6F436ED3-15E6-42D2-A6C4-062243695416}" srcOrd="2" destOrd="0" presId="urn:microsoft.com/office/officeart/2005/8/layout/orgChart1"/>
    <dgm:cxn modelId="{79D39880-9A97-42EB-9ED2-2294C7D7B808}" type="presParOf" srcId="{6F436ED3-15E6-42D2-A6C4-062243695416}" destId="{C3C83D2E-53AD-4303-9336-0D533F694B0F}" srcOrd="0" destOrd="0" presId="urn:microsoft.com/office/officeart/2005/8/layout/orgChart1"/>
    <dgm:cxn modelId="{B54B59A7-D0A2-42D3-BD02-34C8161DADC6}" type="presParOf" srcId="{C3C83D2E-53AD-4303-9336-0D533F694B0F}" destId="{CCACF7EF-EB88-4CB2-8528-7BD017ABD8AC}" srcOrd="0" destOrd="0" presId="urn:microsoft.com/office/officeart/2005/8/layout/orgChart1"/>
    <dgm:cxn modelId="{073D94C2-B129-4DCE-8FF3-7C6C2C348413}" type="presParOf" srcId="{C3C83D2E-53AD-4303-9336-0D533F694B0F}" destId="{D38A711C-636E-4625-B2CD-6C6C4BF0F5FC}" srcOrd="1" destOrd="0" presId="urn:microsoft.com/office/officeart/2005/8/layout/orgChart1"/>
    <dgm:cxn modelId="{5F0B416E-8F63-4B81-A3B1-3763A561E788}" type="presParOf" srcId="{6F436ED3-15E6-42D2-A6C4-062243695416}" destId="{F9D5D11B-CAC9-46E3-A57A-EA6A890DCF46}" srcOrd="1" destOrd="0" presId="urn:microsoft.com/office/officeart/2005/8/layout/orgChart1"/>
    <dgm:cxn modelId="{0EEE5F6F-B684-4C13-BA5D-5C33F2D24F7C}" type="presParOf" srcId="{6F436ED3-15E6-42D2-A6C4-062243695416}" destId="{18AA0930-91AE-49A2-B800-2F57D4EE079E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9E0558A-EBC2-4FB4-9C73-904476E4213A}" type="doc">
      <dgm:prSet loTypeId="urn:microsoft.com/office/officeart/2005/8/layout/vList2" loCatId="list" qsTypeId="urn:microsoft.com/office/officeart/2005/8/quickstyle/simple3" qsCatId="simple" csTypeId="urn:microsoft.com/office/officeart/2005/8/colors/accent1_1" csCatId="accent1"/>
      <dgm:spPr/>
      <dgm:t>
        <a:bodyPr/>
        <a:lstStyle/>
        <a:p>
          <a:endParaRPr lang="en-US"/>
        </a:p>
      </dgm:t>
    </dgm:pt>
    <dgm:pt modelId="{4E34E2AF-420A-4BC4-81F9-E05821BE285A}">
      <dgm:prSet/>
      <dgm:spPr/>
      <dgm:t>
        <a:bodyPr/>
        <a:lstStyle/>
        <a:p>
          <a:pPr rtl="0"/>
          <a:r>
            <a:rPr lang="en-US" dirty="0" smtClean="0"/>
            <a:t>To find out the effect CCTV surveillance have on the employee engagement of the white collar employees of the garment industry in Bangladesh.</a:t>
          </a:r>
          <a:endParaRPr lang="en-US" dirty="0"/>
        </a:p>
      </dgm:t>
    </dgm:pt>
    <dgm:pt modelId="{5E0179AB-2E1A-42CA-A671-65C3C7768AA1}" type="parTrans" cxnId="{892801E9-C121-4949-98DA-7E11C21B1812}">
      <dgm:prSet/>
      <dgm:spPr/>
      <dgm:t>
        <a:bodyPr/>
        <a:lstStyle/>
        <a:p>
          <a:endParaRPr lang="en-US"/>
        </a:p>
      </dgm:t>
    </dgm:pt>
    <dgm:pt modelId="{6DAF51F2-3427-47E1-BEA4-0E6C17F97D14}" type="sibTrans" cxnId="{892801E9-C121-4949-98DA-7E11C21B1812}">
      <dgm:prSet/>
      <dgm:spPr/>
      <dgm:t>
        <a:bodyPr/>
        <a:lstStyle/>
        <a:p>
          <a:endParaRPr lang="en-US"/>
        </a:p>
      </dgm:t>
    </dgm:pt>
    <dgm:pt modelId="{382D3177-5875-485D-94CF-BD09A95D7214}" type="pres">
      <dgm:prSet presAssocID="{F9E0558A-EBC2-4FB4-9C73-904476E4213A}" presName="linear" presStyleCnt="0">
        <dgm:presLayoutVars>
          <dgm:animLvl val="lvl"/>
          <dgm:resizeHandles val="exact"/>
        </dgm:presLayoutVars>
      </dgm:prSet>
      <dgm:spPr/>
    </dgm:pt>
    <dgm:pt modelId="{CE783BF1-A1EE-4F71-93ED-212C1F80CD8F}" type="pres">
      <dgm:prSet presAssocID="{4E34E2AF-420A-4BC4-81F9-E05821BE285A}" presName="parentText" presStyleLbl="node1" presStyleIdx="0" presStyleCnt="1" custLinFactNeighborX="-9874" custLinFactNeighborY="260">
        <dgm:presLayoutVars>
          <dgm:chMax val="0"/>
          <dgm:bulletEnabled val="1"/>
        </dgm:presLayoutVars>
      </dgm:prSet>
      <dgm:spPr/>
    </dgm:pt>
  </dgm:ptLst>
  <dgm:cxnLst>
    <dgm:cxn modelId="{80AAAC69-746B-4700-8FEA-360E6123BCEF}" type="presOf" srcId="{4E34E2AF-420A-4BC4-81F9-E05821BE285A}" destId="{CE783BF1-A1EE-4F71-93ED-212C1F80CD8F}" srcOrd="0" destOrd="0" presId="urn:microsoft.com/office/officeart/2005/8/layout/vList2"/>
    <dgm:cxn modelId="{3730F78A-F1B1-4B9F-849F-9B43F317671A}" type="presOf" srcId="{F9E0558A-EBC2-4FB4-9C73-904476E4213A}" destId="{382D3177-5875-485D-94CF-BD09A95D7214}" srcOrd="0" destOrd="0" presId="urn:microsoft.com/office/officeart/2005/8/layout/vList2"/>
    <dgm:cxn modelId="{892801E9-C121-4949-98DA-7E11C21B1812}" srcId="{F9E0558A-EBC2-4FB4-9C73-904476E4213A}" destId="{4E34E2AF-420A-4BC4-81F9-E05821BE285A}" srcOrd="0" destOrd="0" parTransId="{5E0179AB-2E1A-42CA-A671-65C3C7768AA1}" sibTransId="{6DAF51F2-3427-47E1-BEA4-0E6C17F97D14}"/>
    <dgm:cxn modelId="{88D6ADCD-2711-4EE9-A288-6B5D87F95CB9}" type="presParOf" srcId="{382D3177-5875-485D-94CF-BD09A95D7214}" destId="{CE783BF1-A1EE-4F71-93ED-212C1F80CD8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F034184-F958-41ED-98A9-AF79FCC54002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07F685F-9E42-4A57-86F0-6B546438E90A}">
      <dgm:prSet custT="1"/>
      <dgm:spPr/>
      <dgm:t>
        <a:bodyPr/>
        <a:lstStyle/>
        <a:p>
          <a:pPr rtl="0"/>
          <a:r>
            <a:rPr lang="en-US" sz="3600" dirty="0" smtClean="0"/>
            <a:t>Judge work performance by deliverables instead of CCTV footage</a:t>
          </a:r>
          <a:endParaRPr lang="en-US" sz="3600" dirty="0"/>
        </a:p>
      </dgm:t>
    </dgm:pt>
    <dgm:pt modelId="{F17D81FF-C0F7-44B4-977A-2313A07E14AB}" type="parTrans" cxnId="{D4F62026-5FF2-40EE-A754-5A479B934852}">
      <dgm:prSet/>
      <dgm:spPr/>
      <dgm:t>
        <a:bodyPr/>
        <a:lstStyle/>
        <a:p>
          <a:endParaRPr lang="en-US" sz="1800"/>
        </a:p>
      </dgm:t>
    </dgm:pt>
    <dgm:pt modelId="{E6D0795D-5BB7-40FE-B1A0-CE61868F9821}" type="sibTrans" cxnId="{D4F62026-5FF2-40EE-A754-5A479B934852}">
      <dgm:prSet custT="1"/>
      <dgm:spPr/>
      <dgm:t>
        <a:bodyPr/>
        <a:lstStyle/>
        <a:p>
          <a:endParaRPr lang="en-US" sz="1600"/>
        </a:p>
      </dgm:t>
    </dgm:pt>
    <dgm:pt modelId="{30E141C9-0358-4157-9E3E-7FD9A7838DD3}">
      <dgm:prSet custT="1"/>
      <dgm:spPr/>
      <dgm:t>
        <a:bodyPr/>
        <a:lstStyle/>
        <a:p>
          <a:pPr rtl="0"/>
          <a:r>
            <a:rPr lang="en-US" sz="3200" dirty="0" smtClean="0"/>
            <a:t>Make employees know by words, actions and practices that CCTV is there to protect them  not to spy on them</a:t>
          </a:r>
          <a:endParaRPr lang="en-US" sz="3200" dirty="0"/>
        </a:p>
      </dgm:t>
    </dgm:pt>
    <dgm:pt modelId="{F0F6FE87-B889-497A-B2F9-BEB5A4BA07F5}" type="parTrans" cxnId="{0F995033-9B92-4CB5-931B-6B25E5A98A8D}">
      <dgm:prSet/>
      <dgm:spPr/>
      <dgm:t>
        <a:bodyPr/>
        <a:lstStyle/>
        <a:p>
          <a:endParaRPr lang="en-US" sz="1800"/>
        </a:p>
      </dgm:t>
    </dgm:pt>
    <dgm:pt modelId="{7D638714-4240-4A59-8227-5B495EBC6DC0}" type="sibTrans" cxnId="{0F995033-9B92-4CB5-931B-6B25E5A98A8D}">
      <dgm:prSet custT="1"/>
      <dgm:spPr/>
      <dgm:t>
        <a:bodyPr/>
        <a:lstStyle/>
        <a:p>
          <a:endParaRPr lang="en-US" sz="1600"/>
        </a:p>
      </dgm:t>
    </dgm:pt>
    <dgm:pt modelId="{722FEF8D-FC90-48EE-B20D-22BDD99D8E57}" type="pres">
      <dgm:prSet presAssocID="{CF034184-F958-41ED-98A9-AF79FCC54002}" presName="cycle" presStyleCnt="0">
        <dgm:presLayoutVars>
          <dgm:dir/>
          <dgm:resizeHandles val="exact"/>
        </dgm:presLayoutVars>
      </dgm:prSet>
      <dgm:spPr/>
    </dgm:pt>
    <dgm:pt modelId="{3E4767F3-C67F-42D0-B056-B6740242CE62}" type="pres">
      <dgm:prSet presAssocID="{E07F685F-9E42-4A57-86F0-6B546438E90A}" presName="node" presStyleLbl="node1" presStyleIdx="0" presStyleCnt="2">
        <dgm:presLayoutVars>
          <dgm:bulletEnabled val="1"/>
        </dgm:presLayoutVars>
      </dgm:prSet>
      <dgm:spPr/>
    </dgm:pt>
    <dgm:pt modelId="{8DD665BF-040C-4784-B179-2B85FC911E53}" type="pres">
      <dgm:prSet presAssocID="{E6D0795D-5BB7-40FE-B1A0-CE61868F9821}" presName="sibTrans" presStyleLbl="sibTrans2D1" presStyleIdx="0" presStyleCnt="2"/>
      <dgm:spPr/>
    </dgm:pt>
    <dgm:pt modelId="{CCE40545-D91B-4E69-8C1C-30E3D9B8F190}" type="pres">
      <dgm:prSet presAssocID="{E6D0795D-5BB7-40FE-B1A0-CE61868F9821}" presName="connectorText" presStyleLbl="sibTrans2D1" presStyleIdx="0" presStyleCnt="2"/>
      <dgm:spPr/>
    </dgm:pt>
    <dgm:pt modelId="{0CE4AB6F-BB18-408E-9EA8-CC4308E491E8}" type="pres">
      <dgm:prSet presAssocID="{30E141C9-0358-4157-9E3E-7FD9A7838DD3}" presName="node" presStyleLbl="node1" presStyleIdx="1" presStyleCnt="2">
        <dgm:presLayoutVars>
          <dgm:bulletEnabled val="1"/>
        </dgm:presLayoutVars>
      </dgm:prSet>
      <dgm:spPr/>
    </dgm:pt>
    <dgm:pt modelId="{0338B865-3FE0-4E17-859E-CF09DB3B7AAA}" type="pres">
      <dgm:prSet presAssocID="{7D638714-4240-4A59-8227-5B495EBC6DC0}" presName="sibTrans" presStyleLbl="sibTrans2D1" presStyleIdx="1" presStyleCnt="2"/>
      <dgm:spPr/>
    </dgm:pt>
    <dgm:pt modelId="{7F99A38C-DA01-441A-9EA6-D033F9A5B83E}" type="pres">
      <dgm:prSet presAssocID="{7D638714-4240-4A59-8227-5B495EBC6DC0}" presName="connectorText" presStyleLbl="sibTrans2D1" presStyleIdx="1" presStyleCnt="2"/>
      <dgm:spPr/>
    </dgm:pt>
  </dgm:ptLst>
  <dgm:cxnLst>
    <dgm:cxn modelId="{D4F62026-5FF2-40EE-A754-5A479B934852}" srcId="{CF034184-F958-41ED-98A9-AF79FCC54002}" destId="{E07F685F-9E42-4A57-86F0-6B546438E90A}" srcOrd="0" destOrd="0" parTransId="{F17D81FF-C0F7-44B4-977A-2313A07E14AB}" sibTransId="{E6D0795D-5BB7-40FE-B1A0-CE61868F9821}"/>
    <dgm:cxn modelId="{E6FAB505-3090-4DC7-808C-F6E3414C7683}" type="presOf" srcId="{E6D0795D-5BB7-40FE-B1A0-CE61868F9821}" destId="{8DD665BF-040C-4784-B179-2B85FC911E53}" srcOrd="0" destOrd="0" presId="urn:microsoft.com/office/officeart/2005/8/layout/cycle2"/>
    <dgm:cxn modelId="{6C0EEA54-EC74-4399-B4DF-BF4ECCDAA3F2}" type="presOf" srcId="{7D638714-4240-4A59-8227-5B495EBC6DC0}" destId="{0338B865-3FE0-4E17-859E-CF09DB3B7AAA}" srcOrd="0" destOrd="0" presId="urn:microsoft.com/office/officeart/2005/8/layout/cycle2"/>
    <dgm:cxn modelId="{0F995033-9B92-4CB5-931B-6B25E5A98A8D}" srcId="{CF034184-F958-41ED-98A9-AF79FCC54002}" destId="{30E141C9-0358-4157-9E3E-7FD9A7838DD3}" srcOrd="1" destOrd="0" parTransId="{F0F6FE87-B889-497A-B2F9-BEB5A4BA07F5}" sibTransId="{7D638714-4240-4A59-8227-5B495EBC6DC0}"/>
    <dgm:cxn modelId="{2BD90F04-8ADE-4DBF-AA48-8253E636A6CC}" type="presOf" srcId="{E07F685F-9E42-4A57-86F0-6B546438E90A}" destId="{3E4767F3-C67F-42D0-B056-B6740242CE62}" srcOrd="0" destOrd="0" presId="urn:microsoft.com/office/officeart/2005/8/layout/cycle2"/>
    <dgm:cxn modelId="{DF4F6ACA-DBAD-4C65-8097-7CE3AC72EF0E}" type="presOf" srcId="{7D638714-4240-4A59-8227-5B495EBC6DC0}" destId="{7F99A38C-DA01-441A-9EA6-D033F9A5B83E}" srcOrd="1" destOrd="0" presId="urn:microsoft.com/office/officeart/2005/8/layout/cycle2"/>
    <dgm:cxn modelId="{C82C5FD0-F982-4B2F-986E-EAE8356435D1}" type="presOf" srcId="{E6D0795D-5BB7-40FE-B1A0-CE61868F9821}" destId="{CCE40545-D91B-4E69-8C1C-30E3D9B8F190}" srcOrd="1" destOrd="0" presId="urn:microsoft.com/office/officeart/2005/8/layout/cycle2"/>
    <dgm:cxn modelId="{D57ED020-E817-4C55-ADD6-43FD07EBF562}" type="presOf" srcId="{CF034184-F958-41ED-98A9-AF79FCC54002}" destId="{722FEF8D-FC90-48EE-B20D-22BDD99D8E57}" srcOrd="0" destOrd="0" presId="urn:microsoft.com/office/officeart/2005/8/layout/cycle2"/>
    <dgm:cxn modelId="{75AD57AF-2442-40BC-8F81-A61D6FE1BC4F}" type="presOf" srcId="{30E141C9-0358-4157-9E3E-7FD9A7838DD3}" destId="{0CE4AB6F-BB18-408E-9EA8-CC4308E491E8}" srcOrd="0" destOrd="0" presId="urn:microsoft.com/office/officeart/2005/8/layout/cycle2"/>
    <dgm:cxn modelId="{3ABEF4D6-0BF1-4FA1-92ED-1DB35B87F6DF}" type="presParOf" srcId="{722FEF8D-FC90-48EE-B20D-22BDD99D8E57}" destId="{3E4767F3-C67F-42D0-B056-B6740242CE62}" srcOrd="0" destOrd="0" presId="urn:microsoft.com/office/officeart/2005/8/layout/cycle2"/>
    <dgm:cxn modelId="{021C80B4-CAFC-44A9-B587-09C09E28CC60}" type="presParOf" srcId="{722FEF8D-FC90-48EE-B20D-22BDD99D8E57}" destId="{8DD665BF-040C-4784-B179-2B85FC911E53}" srcOrd="1" destOrd="0" presId="urn:microsoft.com/office/officeart/2005/8/layout/cycle2"/>
    <dgm:cxn modelId="{C7D50B1D-1B83-45C2-9737-C6C864CA0785}" type="presParOf" srcId="{8DD665BF-040C-4784-B179-2B85FC911E53}" destId="{CCE40545-D91B-4E69-8C1C-30E3D9B8F190}" srcOrd="0" destOrd="0" presId="urn:microsoft.com/office/officeart/2005/8/layout/cycle2"/>
    <dgm:cxn modelId="{1B8FCDF5-6D8B-4203-9BF3-BA436B3F4677}" type="presParOf" srcId="{722FEF8D-FC90-48EE-B20D-22BDD99D8E57}" destId="{0CE4AB6F-BB18-408E-9EA8-CC4308E491E8}" srcOrd="2" destOrd="0" presId="urn:microsoft.com/office/officeart/2005/8/layout/cycle2"/>
    <dgm:cxn modelId="{A4444D98-316E-4B5E-B852-937DAAE2E572}" type="presParOf" srcId="{722FEF8D-FC90-48EE-B20D-22BDD99D8E57}" destId="{0338B865-3FE0-4E17-859E-CF09DB3B7AAA}" srcOrd="3" destOrd="0" presId="urn:microsoft.com/office/officeart/2005/8/layout/cycle2"/>
    <dgm:cxn modelId="{D7773535-2056-4E32-830A-B0017E3A564D}" type="presParOf" srcId="{0338B865-3FE0-4E17-859E-CF09DB3B7AAA}" destId="{7F99A38C-DA01-441A-9EA6-D033F9A5B83E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5A5D0F5-10AA-47C5-B6F1-0A7E08E83D01}" type="doc">
      <dgm:prSet loTypeId="urn:microsoft.com/office/officeart/2005/8/layout/list1" loCatId="list" qsTypeId="urn:microsoft.com/office/officeart/2005/8/quickstyle/simple3" qsCatId="simple" csTypeId="urn:microsoft.com/office/officeart/2005/8/colors/accent3_1" csCatId="accent3"/>
      <dgm:spPr/>
      <dgm:t>
        <a:bodyPr/>
        <a:lstStyle/>
        <a:p>
          <a:endParaRPr lang="en-US"/>
        </a:p>
      </dgm:t>
    </dgm:pt>
    <dgm:pt modelId="{EC50F551-442B-400E-8A23-867D263093BA}">
      <dgm:prSet/>
      <dgm:spPr/>
      <dgm:t>
        <a:bodyPr/>
        <a:lstStyle/>
        <a:p>
          <a:pPr rtl="0"/>
          <a:r>
            <a:rPr lang="en-US" dirty="0" smtClean="0"/>
            <a:t>CCTV surveillance helps to make employees feel secure and confident</a:t>
          </a:r>
          <a:endParaRPr lang="en-US" dirty="0"/>
        </a:p>
      </dgm:t>
    </dgm:pt>
    <dgm:pt modelId="{86210CB2-CBE0-4175-9762-F522003909C5}" type="parTrans" cxnId="{6690CEBA-A991-4800-8313-24C6B0250A74}">
      <dgm:prSet/>
      <dgm:spPr/>
      <dgm:t>
        <a:bodyPr/>
        <a:lstStyle/>
        <a:p>
          <a:endParaRPr lang="en-US"/>
        </a:p>
      </dgm:t>
    </dgm:pt>
    <dgm:pt modelId="{77EEDABA-AA8B-468F-B866-5B90178F220B}" type="sibTrans" cxnId="{6690CEBA-A991-4800-8313-24C6B0250A74}">
      <dgm:prSet/>
      <dgm:spPr/>
      <dgm:t>
        <a:bodyPr/>
        <a:lstStyle/>
        <a:p>
          <a:endParaRPr lang="en-US"/>
        </a:p>
      </dgm:t>
    </dgm:pt>
    <dgm:pt modelId="{F1F3411D-6D51-44F2-92EB-61B4901E10AF}">
      <dgm:prSet/>
      <dgm:spPr/>
      <dgm:t>
        <a:bodyPr/>
        <a:lstStyle/>
        <a:p>
          <a:pPr rtl="0"/>
          <a:r>
            <a:rPr lang="en-US" smtClean="0"/>
            <a:t>It helps to keep troublesome people in check</a:t>
          </a:r>
          <a:endParaRPr lang="en-US"/>
        </a:p>
      </dgm:t>
    </dgm:pt>
    <dgm:pt modelId="{DC8A858E-6C65-40CB-8108-6F612D32A53D}" type="parTrans" cxnId="{C13C91C4-3791-49AF-BFEB-0F802359FAA2}">
      <dgm:prSet/>
      <dgm:spPr/>
      <dgm:t>
        <a:bodyPr/>
        <a:lstStyle/>
        <a:p>
          <a:endParaRPr lang="en-US"/>
        </a:p>
      </dgm:t>
    </dgm:pt>
    <dgm:pt modelId="{12F53A5F-7675-458E-B6B7-1533D8BC7CDD}" type="sibTrans" cxnId="{C13C91C4-3791-49AF-BFEB-0F802359FAA2}">
      <dgm:prSet/>
      <dgm:spPr/>
      <dgm:t>
        <a:bodyPr/>
        <a:lstStyle/>
        <a:p>
          <a:endParaRPr lang="en-US"/>
        </a:p>
      </dgm:t>
    </dgm:pt>
    <dgm:pt modelId="{7166C9C5-B106-471E-A76B-746E1824DF45}">
      <dgm:prSet/>
      <dgm:spPr/>
      <dgm:t>
        <a:bodyPr/>
        <a:lstStyle/>
        <a:p>
          <a:pPr rtl="0"/>
          <a:r>
            <a:rPr lang="en-US" smtClean="0"/>
            <a:t>It makes solving a lot of issues easier for both management and employees</a:t>
          </a:r>
          <a:endParaRPr lang="en-US"/>
        </a:p>
      </dgm:t>
    </dgm:pt>
    <dgm:pt modelId="{05977734-C14F-48C0-BD0E-B671482FDA82}" type="parTrans" cxnId="{CF054893-34B8-44C7-AE23-71647D5F199F}">
      <dgm:prSet/>
      <dgm:spPr/>
      <dgm:t>
        <a:bodyPr/>
        <a:lstStyle/>
        <a:p>
          <a:endParaRPr lang="en-US"/>
        </a:p>
      </dgm:t>
    </dgm:pt>
    <dgm:pt modelId="{97BEB360-34CD-4FFC-A20E-640B1F834480}" type="sibTrans" cxnId="{CF054893-34B8-44C7-AE23-71647D5F199F}">
      <dgm:prSet/>
      <dgm:spPr/>
      <dgm:t>
        <a:bodyPr/>
        <a:lstStyle/>
        <a:p>
          <a:endParaRPr lang="en-US"/>
        </a:p>
      </dgm:t>
    </dgm:pt>
    <dgm:pt modelId="{1BC6C072-433B-4290-BA74-614525015458}">
      <dgm:prSet/>
      <dgm:spPr/>
      <dgm:t>
        <a:bodyPr/>
        <a:lstStyle/>
        <a:p>
          <a:pPr rtl="0"/>
          <a:r>
            <a:rPr lang="en-US" smtClean="0"/>
            <a:t>Employees may feel they are not trusted due to cctv surveillance</a:t>
          </a:r>
          <a:endParaRPr lang="en-US"/>
        </a:p>
      </dgm:t>
    </dgm:pt>
    <dgm:pt modelId="{511573D6-8A33-472F-8270-19FF558DF898}" type="parTrans" cxnId="{2BFF484B-65E8-44E2-9239-FEE9AF5A4B0E}">
      <dgm:prSet/>
      <dgm:spPr/>
      <dgm:t>
        <a:bodyPr/>
        <a:lstStyle/>
        <a:p>
          <a:endParaRPr lang="en-US"/>
        </a:p>
      </dgm:t>
    </dgm:pt>
    <dgm:pt modelId="{C380EDCA-580B-4656-8FB8-40442A38A0E5}" type="sibTrans" cxnId="{2BFF484B-65E8-44E2-9239-FEE9AF5A4B0E}">
      <dgm:prSet/>
      <dgm:spPr/>
      <dgm:t>
        <a:bodyPr/>
        <a:lstStyle/>
        <a:p>
          <a:endParaRPr lang="en-US"/>
        </a:p>
      </dgm:t>
    </dgm:pt>
    <dgm:pt modelId="{47780522-C845-4FA2-A5C8-BF0D0A0E5A73}">
      <dgm:prSet/>
      <dgm:spPr/>
      <dgm:t>
        <a:bodyPr/>
        <a:lstStyle/>
        <a:p>
          <a:pPr rtl="0"/>
          <a:r>
            <a:rPr lang="en-US" smtClean="0"/>
            <a:t>Employees may feel their privacy is not being respected</a:t>
          </a:r>
          <a:endParaRPr lang="en-US"/>
        </a:p>
      </dgm:t>
    </dgm:pt>
    <dgm:pt modelId="{1617EE13-9C87-4128-BA31-F6F2EE008147}" type="parTrans" cxnId="{038C753B-2CCE-414B-B785-98B2BC1BE125}">
      <dgm:prSet/>
      <dgm:spPr/>
      <dgm:t>
        <a:bodyPr/>
        <a:lstStyle/>
        <a:p>
          <a:endParaRPr lang="en-US"/>
        </a:p>
      </dgm:t>
    </dgm:pt>
    <dgm:pt modelId="{56AF3051-14F3-4E29-B44B-D0F85B7D58E5}" type="sibTrans" cxnId="{038C753B-2CCE-414B-B785-98B2BC1BE125}">
      <dgm:prSet/>
      <dgm:spPr/>
      <dgm:t>
        <a:bodyPr/>
        <a:lstStyle/>
        <a:p>
          <a:endParaRPr lang="en-US"/>
        </a:p>
      </dgm:t>
    </dgm:pt>
    <dgm:pt modelId="{874EF9F2-EAD7-4FF0-A32E-FD2B5CA40D56}" type="pres">
      <dgm:prSet presAssocID="{75A5D0F5-10AA-47C5-B6F1-0A7E08E83D01}" presName="linear" presStyleCnt="0">
        <dgm:presLayoutVars>
          <dgm:dir/>
          <dgm:animLvl val="lvl"/>
          <dgm:resizeHandles val="exact"/>
        </dgm:presLayoutVars>
      </dgm:prSet>
      <dgm:spPr/>
    </dgm:pt>
    <dgm:pt modelId="{647986E3-8CF3-4358-AD8B-F983A67EB7AF}" type="pres">
      <dgm:prSet presAssocID="{EC50F551-442B-400E-8A23-867D263093BA}" presName="parentLin" presStyleCnt="0"/>
      <dgm:spPr/>
    </dgm:pt>
    <dgm:pt modelId="{DB550E09-1C3F-4C77-A680-FA8EECBC73E2}" type="pres">
      <dgm:prSet presAssocID="{EC50F551-442B-400E-8A23-867D263093BA}" presName="parentLeftMargin" presStyleLbl="node1" presStyleIdx="0" presStyleCnt="5"/>
      <dgm:spPr/>
    </dgm:pt>
    <dgm:pt modelId="{BEF2CCA4-F0FD-4973-8F52-75E9EED1B3F1}" type="pres">
      <dgm:prSet presAssocID="{EC50F551-442B-400E-8A23-867D263093BA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51275A8-784C-43A0-8DE5-ADFB84114406}" type="pres">
      <dgm:prSet presAssocID="{EC50F551-442B-400E-8A23-867D263093BA}" presName="negativeSpace" presStyleCnt="0"/>
      <dgm:spPr/>
    </dgm:pt>
    <dgm:pt modelId="{3E31113C-0D2A-4FCF-831C-F16D5329B335}" type="pres">
      <dgm:prSet presAssocID="{EC50F551-442B-400E-8A23-867D263093BA}" presName="childText" presStyleLbl="conFgAcc1" presStyleIdx="0" presStyleCnt="5" custLinFactNeighborX="-508" custLinFactNeighborY="-1921">
        <dgm:presLayoutVars>
          <dgm:bulletEnabled val="1"/>
        </dgm:presLayoutVars>
      </dgm:prSet>
      <dgm:spPr/>
    </dgm:pt>
    <dgm:pt modelId="{6A033AA4-1A3D-4800-82B6-1CBE236656E8}" type="pres">
      <dgm:prSet presAssocID="{77EEDABA-AA8B-468F-B866-5B90178F220B}" presName="spaceBetweenRectangles" presStyleCnt="0"/>
      <dgm:spPr/>
    </dgm:pt>
    <dgm:pt modelId="{D10AE5C3-E459-4069-B98D-FEFDA4F0A2CE}" type="pres">
      <dgm:prSet presAssocID="{F1F3411D-6D51-44F2-92EB-61B4901E10AF}" presName="parentLin" presStyleCnt="0"/>
      <dgm:spPr/>
    </dgm:pt>
    <dgm:pt modelId="{E2D97862-6AC0-4D7B-8EA7-DF235F3ECD16}" type="pres">
      <dgm:prSet presAssocID="{F1F3411D-6D51-44F2-92EB-61B4901E10AF}" presName="parentLeftMargin" presStyleLbl="node1" presStyleIdx="0" presStyleCnt="5"/>
      <dgm:spPr/>
    </dgm:pt>
    <dgm:pt modelId="{A15FD4E8-9F1A-4D35-90F9-3841B80AFEE0}" type="pres">
      <dgm:prSet presAssocID="{F1F3411D-6D51-44F2-92EB-61B4901E10A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7F4F92B-7B8B-4437-BDD0-3BB97661F9CB}" type="pres">
      <dgm:prSet presAssocID="{F1F3411D-6D51-44F2-92EB-61B4901E10AF}" presName="negativeSpace" presStyleCnt="0"/>
      <dgm:spPr/>
    </dgm:pt>
    <dgm:pt modelId="{A865AC8A-D5F5-4EA0-B91E-744FAEB29573}" type="pres">
      <dgm:prSet presAssocID="{F1F3411D-6D51-44F2-92EB-61B4901E10AF}" presName="childText" presStyleLbl="conFgAcc1" presStyleIdx="1" presStyleCnt="5">
        <dgm:presLayoutVars>
          <dgm:bulletEnabled val="1"/>
        </dgm:presLayoutVars>
      </dgm:prSet>
      <dgm:spPr/>
    </dgm:pt>
    <dgm:pt modelId="{9F6D6F50-932F-4C31-B63E-7236E5C4FEBF}" type="pres">
      <dgm:prSet presAssocID="{12F53A5F-7675-458E-B6B7-1533D8BC7CDD}" presName="spaceBetweenRectangles" presStyleCnt="0"/>
      <dgm:spPr/>
    </dgm:pt>
    <dgm:pt modelId="{463198EE-F568-4274-8C12-44450464CB42}" type="pres">
      <dgm:prSet presAssocID="{7166C9C5-B106-471E-A76B-746E1824DF45}" presName="parentLin" presStyleCnt="0"/>
      <dgm:spPr/>
    </dgm:pt>
    <dgm:pt modelId="{63C8BD98-2B38-46B8-8988-B9CDB0D0BCA5}" type="pres">
      <dgm:prSet presAssocID="{7166C9C5-B106-471E-A76B-746E1824DF45}" presName="parentLeftMargin" presStyleLbl="node1" presStyleIdx="1" presStyleCnt="5"/>
      <dgm:spPr/>
    </dgm:pt>
    <dgm:pt modelId="{B958ED67-4CA5-4D3D-9176-65CECFB64CC2}" type="pres">
      <dgm:prSet presAssocID="{7166C9C5-B106-471E-A76B-746E1824DF4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47449BA-EA72-4283-84AD-0F85C5578C0A}" type="pres">
      <dgm:prSet presAssocID="{7166C9C5-B106-471E-A76B-746E1824DF45}" presName="negativeSpace" presStyleCnt="0"/>
      <dgm:spPr/>
    </dgm:pt>
    <dgm:pt modelId="{149212A2-268E-4C59-BB96-376AB3D1D308}" type="pres">
      <dgm:prSet presAssocID="{7166C9C5-B106-471E-A76B-746E1824DF45}" presName="childText" presStyleLbl="conFgAcc1" presStyleIdx="2" presStyleCnt="5">
        <dgm:presLayoutVars>
          <dgm:bulletEnabled val="1"/>
        </dgm:presLayoutVars>
      </dgm:prSet>
      <dgm:spPr/>
    </dgm:pt>
    <dgm:pt modelId="{2F354B79-D490-41EA-8266-35830D3832BE}" type="pres">
      <dgm:prSet presAssocID="{97BEB360-34CD-4FFC-A20E-640B1F834480}" presName="spaceBetweenRectangles" presStyleCnt="0"/>
      <dgm:spPr/>
    </dgm:pt>
    <dgm:pt modelId="{104B7ED6-D14B-4769-AEB6-74EBDF1BD6A9}" type="pres">
      <dgm:prSet presAssocID="{1BC6C072-433B-4290-BA74-614525015458}" presName="parentLin" presStyleCnt="0"/>
      <dgm:spPr/>
    </dgm:pt>
    <dgm:pt modelId="{82607714-7297-47E5-B3EC-56A3D2170D7B}" type="pres">
      <dgm:prSet presAssocID="{1BC6C072-433B-4290-BA74-614525015458}" presName="parentLeftMargin" presStyleLbl="node1" presStyleIdx="2" presStyleCnt="5"/>
      <dgm:spPr/>
    </dgm:pt>
    <dgm:pt modelId="{AC0430F9-EB85-4EA5-BB03-CD97C1C734FE}" type="pres">
      <dgm:prSet presAssocID="{1BC6C072-433B-4290-BA74-61452501545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E3DE3D5-408D-4B16-89C1-CBD89499AEB5}" type="pres">
      <dgm:prSet presAssocID="{1BC6C072-433B-4290-BA74-614525015458}" presName="negativeSpace" presStyleCnt="0"/>
      <dgm:spPr/>
    </dgm:pt>
    <dgm:pt modelId="{98E7B3BF-4338-4633-8E82-7ADBBE1E1C03}" type="pres">
      <dgm:prSet presAssocID="{1BC6C072-433B-4290-BA74-614525015458}" presName="childText" presStyleLbl="conFgAcc1" presStyleIdx="3" presStyleCnt="5">
        <dgm:presLayoutVars>
          <dgm:bulletEnabled val="1"/>
        </dgm:presLayoutVars>
      </dgm:prSet>
      <dgm:spPr/>
    </dgm:pt>
    <dgm:pt modelId="{503F6ED2-A962-481B-926A-7F2FED503552}" type="pres">
      <dgm:prSet presAssocID="{C380EDCA-580B-4656-8FB8-40442A38A0E5}" presName="spaceBetweenRectangles" presStyleCnt="0"/>
      <dgm:spPr/>
    </dgm:pt>
    <dgm:pt modelId="{23D27759-71A0-49FA-8CD0-126256459F3F}" type="pres">
      <dgm:prSet presAssocID="{47780522-C845-4FA2-A5C8-BF0D0A0E5A73}" presName="parentLin" presStyleCnt="0"/>
      <dgm:spPr/>
    </dgm:pt>
    <dgm:pt modelId="{44A3D9A7-9D25-4D1D-9D8D-75B71B82F7CC}" type="pres">
      <dgm:prSet presAssocID="{47780522-C845-4FA2-A5C8-BF0D0A0E5A73}" presName="parentLeftMargin" presStyleLbl="node1" presStyleIdx="3" presStyleCnt="5"/>
      <dgm:spPr/>
    </dgm:pt>
    <dgm:pt modelId="{E3F698C6-83A8-4B66-8D79-A02556DE8799}" type="pres">
      <dgm:prSet presAssocID="{47780522-C845-4FA2-A5C8-BF0D0A0E5A73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6125BAA4-4F34-4BA9-BDCD-451B8E305103}" type="pres">
      <dgm:prSet presAssocID="{47780522-C845-4FA2-A5C8-BF0D0A0E5A73}" presName="negativeSpace" presStyleCnt="0"/>
      <dgm:spPr/>
    </dgm:pt>
    <dgm:pt modelId="{944BED8B-CF8F-463A-8BAC-036089F9D808}" type="pres">
      <dgm:prSet presAssocID="{47780522-C845-4FA2-A5C8-BF0D0A0E5A73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2BFF484B-65E8-44E2-9239-FEE9AF5A4B0E}" srcId="{75A5D0F5-10AA-47C5-B6F1-0A7E08E83D01}" destId="{1BC6C072-433B-4290-BA74-614525015458}" srcOrd="3" destOrd="0" parTransId="{511573D6-8A33-472F-8270-19FF558DF898}" sibTransId="{C380EDCA-580B-4656-8FB8-40442A38A0E5}"/>
    <dgm:cxn modelId="{08363F74-8934-462B-AD92-6424EBC48DC5}" type="presOf" srcId="{47780522-C845-4FA2-A5C8-BF0D0A0E5A73}" destId="{44A3D9A7-9D25-4D1D-9D8D-75B71B82F7CC}" srcOrd="0" destOrd="0" presId="urn:microsoft.com/office/officeart/2005/8/layout/list1"/>
    <dgm:cxn modelId="{3CA0EE46-DFA6-431A-ADA5-DB4FDB4B003E}" type="presOf" srcId="{1BC6C072-433B-4290-BA74-614525015458}" destId="{AC0430F9-EB85-4EA5-BB03-CD97C1C734FE}" srcOrd="1" destOrd="0" presId="urn:microsoft.com/office/officeart/2005/8/layout/list1"/>
    <dgm:cxn modelId="{7435ADCC-8683-4AB2-A364-A45E5F102522}" type="presOf" srcId="{75A5D0F5-10AA-47C5-B6F1-0A7E08E83D01}" destId="{874EF9F2-EAD7-4FF0-A32E-FD2B5CA40D56}" srcOrd="0" destOrd="0" presId="urn:microsoft.com/office/officeart/2005/8/layout/list1"/>
    <dgm:cxn modelId="{6F111A1A-3BB3-4C7C-8FA1-7B59E2D0B243}" type="presOf" srcId="{1BC6C072-433B-4290-BA74-614525015458}" destId="{82607714-7297-47E5-B3EC-56A3D2170D7B}" srcOrd="0" destOrd="0" presId="urn:microsoft.com/office/officeart/2005/8/layout/list1"/>
    <dgm:cxn modelId="{D0680D5B-AF6D-41B0-8464-ABF73347B2A2}" type="presOf" srcId="{F1F3411D-6D51-44F2-92EB-61B4901E10AF}" destId="{A15FD4E8-9F1A-4D35-90F9-3841B80AFEE0}" srcOrd="1" destOrd="0" presId="urn:microsoft.com/office/officeart/2005/8/layout/list1"/>
    <dgm:cxn modelId="{038C753B-2CCE-414B-B785-98B2BC1BE125}" srcId="{75A5D0F5-10AA-47C5-B6F1-0A7E08E83D01}" destId="{47780522-C845-4FA2-A5C8-BF0D0A0E5A73}" srcOrd="4" destOrd="0" parTransId="{1617EE13-9C87-4128-BA31-F6F2EE008147}" sibTransId="{56AF3051-14F3-4E29-B44B-D0F85B7D58E5}"/>
    <dgm:cxn modelId="{CF054893-34B8-44C7-AE23-71647D5F199F}" srcId="{75A5D0F5-10AA-47C5-B6F1-0A7E08E83D01}" destId="{7166C9C5-B106-471E-A76B-746E1824DF45}" srcOrd="2" destOrd="0" parTransId="{05977734-C14F-48C0-BD0E-B671482FDA82}" sibTransId="{97BEB360-34CD-4FFC-A20E-640B1F834480}"/>
    <dgm:cxn modelId="{EDB5EF39-23E0-447D-B21F-079FD172FCA5}" type="presOf" srcId="{7166C9C5-B106-471E-A76B-746E1824DF45}" destId="{B958ED67-4CA5-4D3D-9176-65CECFB64CC2}" srcOrd="1" destOrd="0" presId="urn:microsoft.com/office/officeart/2005/8/layout/list1"/>
    <dgm:cxn modelId="{C13C91C4-3791-49AF-BFEB-0F802359FAA2}" srcId="{75A5D0F5-10AA-47C5-B6F1-0A7E08E83D01}" destId="{F1F3411D-6D51-44F2-92EB-61B4901E10AF}" srcOrd="1" destOrd="0" parTransId="{DC8A858E-6C65-40CB-8108-6F612D32A53D}" sibTransId="{12F53A5F-7675-458E-B6B7-1533D8BC7CDD}"/>
    <dgm:cxn modelId="{224D1E17-EAC3-4972-A4CF-CA37FD14EDCB}" type="presOf" srcId="{EC50F551-442B-400E-8A23-867D263093BA}" destId="{BEF2CCA4-F0FD-4973-8F52-75E9EED1B3F1}" srcOrd="1" destOrd="0" presId="urn:microsoft.com/office/officeart/2005/8/layout/list1"/>
    <dgm:cxn modelId="{6690CEBA-A991-4800-8313-24C6B0250A74}" srcId="{75A5D0F5-10AA-47C5-B6F1-0A7E08E83D01}" destId="{EC50F551-442B-400E-8A23-867D263093BA}" srcOrd="0" destOrd="0" parTransId="{86210CB2-CBE0-4175-9762-F522003909C5}" sibTransId="{77EEDABA-AA8B-468F-B866-5B90178F220B}"/>
    <dgm:cxn modelId="{C62DE59A-A8F8-4879-BD10-15C2FE4DE196}" type="presOf" srcId="{47780522-C845-4FA2-A5C8-BF0D0A0E5A73}" destId="{E3F698C6-83A8-4B66-8D79-A02556DE8799}" srcOrd="1" destOrd="0" presId="urn:microsoft.com/office/officeart/2005/8/layout/list1"/>
    <dgm:cxn modelId="{DB180DE4-9AE5-457E-943D-62E7A610600F}" type="presOf" srcId="{F1F3411D-6D51-44F2-92EB-61B4901E10AF}" destId="{E2D97862-6AC0-4D7B-8EA7-DF235F3ECD16}" srcOrd="0" destOrd="0" presId="urn:microsoft.com/office/officeart/2005/8/layout/list1"/>
    <dgm:cxn modelId="{87DFF238-1596-45DF-BE33-E5B0EB8B8DFD}" type="presOf" srcId="{EC50F551-442B-400E-8A23-867D263093BA}" destId="{DB550E09-1C3F-4C77-A680-FA8EECBC73E2}" srcOrd="0" destOrd="0" presId="urn:microsoft.com/office/officeart/2005/8/layout/list1"/>
    <dgm:cxn modelId="{2C5E84A8-83FB-4CCA-BBE6-719692697D08}" type="presOf" srcId="{7166C9C5-B106-471E-A76B-746E1824DF45}" destId="{63C8BD98-2B38-46B8-8988-B9CDB0D0BCA5}" srcOrd="0" destOrd="0" presId="urn:microsoft.com/office/officeart/2005/8/layout/list1"/>
    <dgm:cxn modelId="{E6C17ADB-3A64-446E-B9C5-5FB3717DB77A}" type="presParOf" srcId="{874EF9F2-EAD7-4FF0-A32E-FD2B5CA40D56}" destId="{647986E3-8CF3-4358-AD8B-F983A67EB7AF}" srcOrd="0" destOrd="0" presId="urn:microsoft.com/office/officeart/2005/8/layout/list1"/>
    <dgm:cxn modelId="{E394F6F5-EB40-49E1-A823-A458C2A18D77}" type="presParOf" srcId="{647986E3-8CF3-4358-AD8B-F983A67EB7AF}" destId="{DB550E09-1C3F-4C77-A680-FA8EECBC73E2}" srcOrd="0" destOrd="0" presId="urn:microsoft.com/office/officeart/2005/8/layout/list1"/>
    <dgm:cxn modelId="{7C4B5A38-CDE6-4121-9687-9D84AEC271C9}" type="presParOf" srcId="{647986E3-8CF3-4358-AD8B-F983A67EB7AF}" destId="{BEF2CCA4-F0FD-4973-8F52-75E9EED1B3F1}" srcOrd="1" destOrd="0" presId="urn:microsoft.com/office/officeart/2005/8/layout/list1"/>
    <dgm:cxn modelId="{A4A906D2-EBA5-4CC8-8FF3-9F326E2AEF87}" type="presParOf" srcId="{874EF9F2-EAD7-4FF0-A32E-FD2B5CA40D56}" destId="{951275A8-784C-43A0-8DE5-ADFB84114406}" srcOrd="1" destOrd="0" presId="urn:microsoft.com/office/officeart/2005/8/layout/list1"/>
    <dgm:cxn modelId="{F5E3B46D-93D8-4DEF-92E6-BB5A1E044FA6}" type="presParOf" srcId="{874EF9F2-EAD7-4FF0-A32E-FD2B5CA40D56}" destId="{3E31113C-0D2A-4FCF-831C-F16D5329B335}" srcOrd="2" destOrd="0" presId="urn:microsoft.com/office/officeart/2005/8/layout/list1"/>
    <dgm:cxn modelId="{E4B137D8-7F07-4B1E-8214-F7B693C33B3A}" type="presParOf" srcId="{874EF9F2-EAD7-4FF0-A32E-FD2B5CA40D56}" destId="{6A033AA4-1A3D-4800-82B6-1CBE236656E8}" srcOrd="3" destOrd="0" presId="urn:microsoft.com/office/officeart/2005/8/layout/list1"/>
    <dgm:cxn modelId="{0673E1B9-0E9E-47A2-A813-4C6909D51FC3}" type="presParOf" srcId="{874EF9F2-EAD7-4FF0-A32E-FD2B5CA40D56}" destId="{D10AE5C3-E459-4069-B98D-FEFDA4F0A2CE}" srcOrd="4" destOrd="0" presId="urn:microsoft.com/office/officeart/2005/8/layout/list1"/>
    <dgm:cxn modelId="{1FCBF4A9-5B89-448F-A5F1-C23E12DBE8A5}" type="presParOf" srcId="{D10AE5C3-E459-4069-B98D-FEFDA4F0A2CE}" destId="{E2D97862-6AC0-4D7B-8EA7-DF235F3ECD16}" srcOrd="0" destOrd="0" presId="urn:microsoft.com/office/officeart/2005/8/layout/list1"/>
    <dgm:cxn modelId="{4958FBB6-3F1D-4986-AE04-94A74BCF2B61}" type="presParOf" srcId="{D10AE5C3-E459-4069-B98D-FEFDA4F0A2CE}" destId="{A15FD4E8-9F1A-4D35-90F9-3841B80AFEE0}" srcOrd="1" destOrd="0" presId="urn:microsoft.com/office/officeart/2005/8/layout/list1"/>
    <dgm:cxn modelId="{6B05F817-9B56-4C6D-B1A2-CC3678B41FF5}" type="presParOf" srcId="{874EF9F2-EAD7-4FF0-A32E-FD2B5CA40D56}" destId="{F7F4F92B-7B8B-4437-BDD0-3BB97661F9CB}" srcOrd="5" destOrd="0" presId="urn:microsoft.com/office/officeart/2005/8/layout/list1"/>
    <dgm:cxn modelId="{A4282096-AE36-4834-B37A-DD6756D3AF5D}" type="presParOf" srcId="{874EF9F2-EAD7-4FF0-A32E-FD2B5CA40D56}" destId="{A865AC8A-D5F5-4EA0-B91E-744FAEB29573}" srcOrd="6" destOrd="0" presId="urn:microsoft.com/office/officeart/2005/8/layout/list1"/>
    <dgm:cxn modelId="{03BFF41B-B658-4F3C-977C-0C983B07569B}" type="presParOf" srcId="{874EF9F2-EAD7-4FF0-A32E-FD2B5CA40D56}" destId="{9F6D6F50-932F-4C31-B63E-7236E5C4FEBF}" srcOrd="7" destOrd="0" presId="urn:microsoft.com/office/officeart/2005/8/layout/list1"/>
    <dgm:cxn modelId="{53E6ADBB-56AB-417B-BD4C-7D713394A74E}" type="presParOf" srcId="{874EF9F2-EAD7-4FF0-A32E-FD2B5CA40D56}" destId="{463198EE-F568-4274-8C12-44450464CB42}" srcOrd="8" destOrd="0" presId="urn:microsoft.com/office/officeart/2005/8/layout/list1"/>
    <dgm:cxn modelId="{A4922200-8511-45E7-8EB1-70D538FAF221}" type="presParOf" srcId="{463198EE-F568-4274-8C12-44450464CB42}" destId="{63C8BD98-2B38-46B8-8988-B9CDB0D0BCA5}" srcOrd="0" destOrd="0" presId="urn:microsoft.com/office/officeart/2005/8/layout/list1"/>
    <dgm:cxn modelId="{B91F97A4-3030-4091-AA13-A6EB80954070}" type="presParOf" srcId="{463198EE-F568-4274-8C12-44450464CB42}" destId="{B958ED67-4CA5-4D3D-9176-65CECFB64CC2}" srcOrd="1" destOrd="0" presId="urn:microsoft.com/office/officeart/2005/8/layout/list1"/>
    <dgm:cxn modelId="{4A7ADB18-EAFB-4FAB-835B-C4B3072D14BA}" type="presParOf" srcId="{874EF9F2-EAD7-4FF0-A32E-FD2B5CA40D56}" destId="{447449BA-EA72-4283-84AD-0F85C5578C0A}" srcOrd="9" destOrd="0" presId="urn:microsoft.com/office/officeart/2005/8/layout/list1"/>
    <dgm:cxn modelId="{7BC120A0-7B5F-472C-94E0-0F14205D605B}" type="presParOf" srcId="{874EF9F2-EAD7-4FF0-A32E-FD2B5CA40D56}" destId="{149212A2-268E-4C59-BB96-376AB3D1D308}" srcOrd="10" destOrd="0" presId="urn:microsoft.com/office/officeart/2005/8/layout/list1"/>
    <dgm:cxn modelId="{AF1655E7-C61D-4976-A4E0-FCB4E64F31D9}" type="presParOf" srcId="{874EF9F2-EAD7-4FF0-A32E-FD2B5CA40D56}" destId="{2F354B79-D490-41EA-8266-35830D3832BE}" srcOrd="11" destOrd="0" presId="urn:microsoft.com/office/officeart/2005/8/layout/list1"/>
    <dgm:cxn modelId="{5E35381E-1457-4518-9C56-3107064D7B94}" type="presParOf" srcId="{874EF9F2-EAD7-4FF0-A32E-FD2B5CA40D56}" destId="{104B7ED6-D14B-4769-AEB6-74EBDF1BD6A9}" srcOrd="12" destOrd="0" presId="urn:microsoft.com/office/officeart/2005/8/layout/list1"/>
    <dgm:cxn modelId="{F4A75D20-EB94-44D9-9A52-560AD7EB6AFD}" type="presParOf" srcId="{104B7ED6-D14B-4769-AEB6-74EBDF1BD6A9}" destId="{82607714-7297-47E5-B3EC-56A3D2170D7B}" srcOrd="0" destOrd="0" presId="urn:microsoft.com/office/officeart/2005/8/layout/list1"/>
    <dgm:cxn modelId="{EB9C501E-33FE-494D-AC2F-39C81A3E384F}" type="presParOf" srcId="{104B7ED6-D14B-4769-AEB6-74EBDF1BD6A9}" destId="{AC0430F9-EB85-4EA5-BB03-CD97C1C734FE}" srcOrd="1" destOrd="0" presId="urn:microsoft.com/office/officeart/2005/8/layout/list1"/>
    <dgm:cxn modelId="{C82878B4-EAC4-43A3-9BE6-66C4ABCC645F}" type="presParOf" srcId="{874EF9F2-EAD7-4FF0-A32E-FD2B5CA40D56}" destId="{BE3DE3D5-408D-4B16-89C1-CBD89499AEB5}" srcOrd="13" destOrd="0" presId="urn:microsoft.com/office/officeart/2005/8/layout/list1"/>
    <dgm:cxn modelId="{C8325A2E-1C7E-4D14-A04C-65D9BF6FD92C}" type="presParOf" srcId="{874EF9F2-EAD7-4FF0-A32E-FD2B5CA40D56}" destId="{98E7B3BF-4338-4633-8E82-7ADBBE1E1C03}" srcOrd="14" destOrd="0" presId="urn:microsoft.com/office/officeart/2005/8/layout/list1"/>
    <dgm:cxn modelId="{D99049F5-B5AE-4385-8CC2-1E151795D0FA}" type="presParOf" srcId="{874EF9F2-EAD7-4FF0-A32E-FD2B5CA40D56}" destId="{503F6ED2-A962-481B-926A-7F2FED503552}" srcOrd="15" destOrd="0" presId="urn:microsoft.com/office/officeart/2005/8/layout/list1"/>
    <dgm:cxn modelId="{3668FE7A-6AE0-4746-87C8-6BF6839B3B45}" type="presParOf" srcId="{874EF9F2-EAD7-4FF0-A32E-FD2B5CA40D56}" destId="{23D27759-71A0-49FA-8CD0-126256459F3F}" srcOrd="16" destOrd="0" presId="urn:microsoft.com/office/officeart/2005/8/layout/list1"/>
    <dgm:cxn modelId="{7F2EEC7D-9612-48DA-A549-056AEA9D89AB}" type="presParOf" srcId="{23D27759-71A0-49FA-8CD0-126256459F3F}" destId="{44A3D9A7-9D25-4D1D-9D8D-75B71B82F7CC}" srcOrd="0" destOrd="0" presId="urn:microsoft.com/office/officeart/2005/8/layout/list1"/>
    <dgm:cxn modelId="{05EE99FD-5A02-4AD0-85BD-48E9EA366F68}" type="presParOf" srcId="{23D27759-71A0-49FA-8CD0-126256459F3F}" destId="{E3F698C6-83A8-4B66-8D79-A02556DE8799}" srcOrd="1" destOrd="0" presId="urn:microsoft.com/office/officeart/2005/8/layout/list1"/>
    <dgm:cxn modelId="{5FD8562A-4767-415A-8476-6FE437FE0F07}" type="presParOf" srcId="{874EF9F2-EAD7-4FF0-A32E-FD2B5CA40D56}" destId="{6125BAA4-4F34-4BA9-BDCD-451B8E305103}" srcOrd="17" destOrd="0" presId="urn:microsoft.com/office/officeart/2005/8/layout/list1"/>
    <dgm:cxn modelId="{D57E9318-2314-412D-A87F-136254D3C08A}" type="presParOf" srcId="{874EF9F2-EAD7-4FF0-A32E-FD2B5CA40D56}" destId="{944BED8B-CF8F-463A-8BAC-036089F9D808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E2E048-BEFD-4CBA-B6E2-AC8194D0A761}">
      <dsp:nvSpPr>
        <dsp:cNvPr id="0" name=""/>
        <dsp:cNvSpPr/>
      </dsp:nvSpPr>
      <dsp:spPr>
        <a:xfrm>
          <a:off x="3218481" y="2310"/>
          <a:ext cx="3620791" cy="152502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lvl="0" algn="ctr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CCTV cameras widely used in the corporate </a:t>
          </a:r>
          <a:r>
            <a:rPr lang="en-US" sz="3000" kern="1200" dirty="0" err="1" smtClean="0"/>
            <a:t>workd</a:t>
          </a:r>
          <a:endParaRPr lang="en-US" sz="3000" kern="1200" dirty="0"/>
        </a:p>
      </dsp:txBody>
      <dsp:txXfrm>
        <a:off x="3292927" y="76756"/>
        <a:ext cx="3471899" cy="1376132"/>
      </dsp:txXfrm>
    </dsp:sp>
    <dsp:sp modelId="{B0652788-7992-4B37-91A5-4D1442509106}">
      <dsp:nvSpPr>
        <dsp:cNvPr id="0" name=""/>
        <dsp:cNvSpPr/>
      </dsp:nvSpPr>
      <dsp:spPr>
        <a:xfrm>
          <a:off x="3218481" y="1603586"/>
          <a:ext cx="3620791" cy="152502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lvl="0" algn="ctr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smtClean="0"/>
            <a:t>Virtual eyes for top level managers and owners</a:t>
          </a:r>
          <a:endParaRPr lang="en-US" sz="3000" kern="1200"/>
        </a:p>
      </dsp:txBody>
      <dsp:txXfrm>
        <a:off x="3292927" y="1678032"/>
        <a:ext cx="3471899" cy="1376132"/>
      </dsp:txXfrm>
    </dsp:sp>
    <dsp:sp modelId="{4524BD02-D872-421A-809F-483001B840F1}">
      <dsp:nvSpPr>
        <dsp:cNvPr id="0" name=""/>
        <dsp:cNvSpPr/>
      </dsp:nvSpPr>
      <dsp:spPr>
        <a:xfrm>
          <a:off x="3218481" y="3204861"/>
          <a:ext cx="3620791" cy="152502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lvl="0" algn="ctr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smtClean="0"/>
            <a:t>Effect on employees still questionable</a:t>
          </a:r>
          <a:endParaRPr lang="en-US" sz="3000" kern="1200"/>
        </a:p>
      </dsp:txBody>
      <dsp:txXfrm>
        <a:off x="3292927" y="3279307"/>
        <a:ext cx="3471899" cy="13761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9F2A69-414E-4C81-AE75-BD7574251D52}">
      <dsp:nvSpPr>
        <dsp:cNvPr id="0" name=""/>
        <dsp:cNvSpPr/>
      </dsp:nvSpPr>
      <dsp:spPr>
        <a:xfrm>
          <a:off x="1219550" y="0"/>
          <a:ext cx="13821577" cy="4358762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D66E99-9160-483F-A62C-F9FA3EC29B70}">
      <dsp:nvSpPr>
        <dsp:cNvPr id="0" name=""/>
        <dsp:cNvSpPr/>
      </dsp:nvSpPr>
      <dsp:spPr>
        <a:xfrm>
          <a:off x="17467" y="1307628"/>
          <a:ext cx="5233906" cy="174350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smtClean="0"/>
            <a:t>Did intership in the corporate office of Hameem Group, one of the largest RMG manufacturers in Bangladesh</a:t>
          </a:r>
          <a:endParaRPr lang="en-US" sz="2500" kern="1200"/>
        </a:p>
      </dsp:txBody>
      <dsp:txXfrm>
        <a:off x="102578" y="1392739"/>
        <a:ext cx="5063684" cy="1573282"/>
      </dsp:txXfrm>
    </dsp:sp>
    <dsp:sp modelId="{815AF835-A9BE-4588-AA98-C3406ECAAFC1}">
      <dsp:nvSpPr>
        <dsp:cNvPr id="0" name=""/>
        <dsp:cNvSpPr/>
      </dsp:nvSpPr>
      <dsp:spPr>
        <a:xfrm>
          <a:off x="5513386" y="1307628"/>
          <a:ext cx="5233906" cy="174350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smtClean="0"/>
            <a:t>The company heavily uses CCTC surveillance in their corporate offices</a:t>
          </a:r>
          <a:endParaRPr lang="en-US" sz="2500" kern="1200"/>
        </a:p>
      </dsp:txBody>
      <dsp:txXfrm>
        <a:off x="5598497" y="1392739"/>
        <a:ext cx="5063684" cy="1573282"/>
      </dsp:txXfrm>
    </dsp:sp>
    <dsp:sp modelId="{8C28BA34-6CDF-4D7D-95E0-62D769DB1DAA}">
      <dsp:nvSpPr>
        <dsp:cNvPr id="0" name=""/>
        <dsp:cNvSpPr/>
      </dsp:nvSpPr>
      <dsp:spPr>
        <a:xfrm>
          <a:off x="11009305" y="1307628"/>
          <a:ext cx="5233906" cy="174350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smtClean="0"/>
            <a:t>Any information to help employee well-being beneficial for both the owners and the employees</a:t>
          </a:r>
          <a:endParaRPr lang="en-US" sz="2500" kern="1200"/>
        </a:p>
      </dsp:txBody>
      <dsp:txXfrm>
        <a:off x="11094416" y="1392739"/>
        <a:ext cx="5063684" cy="157328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E3393B-3738-4D58-B2A8-4D2A6B830298}">
      <dsp:nvSpPr>
        <dsp:cNvPr id="0" name=""/>
        <dsp:cNvSpPr/>
      </dsp:nvSpPr>
      <dsp:spPr>
        <a:xfrm>
          <a:off x="724" y="1672580"/>
          <a:ext cx="3154207" cy="157710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smtClean="0"/>
            <a:t>Find out what effect CCTV surveillance had in making employees more focused and involved in their work </a:t>
          </a:r>
          <a:endParaRPr lang="en-US" sz="2200" kern="1200"/>
        </a:p>
      </dsp:txBody>
      <dsp:txXfrm>
        <a:off x="724" y="1672580"/>
        <a:ext cx="3154207" cy="1577103"/>
      </dsp:txXfrm>
    </dsp:sp>
    <dsp:sp modelId="{207C9C8A-2D98-442C-96C6-8A2A4BAA9EED}">
      <dsp:nvSpPr>
        <dsp:cNvPr id="0" name=""/>
        <dsp:cNvSpPr/>
      </dsp:nvSpPr>
      <dsp:spPr>
        <a:xfrm>
          <a:off x="3817315" y="1672580"/>
          <a:ext cx="3154207" cy="157710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smtClean="0"/>
            <a:t>Find out what effect CCTV surveillance has on creating a supportive work environment for employees </a:t>
          </a:r>
          <a:endParaRPr lang="en-US" sz="2200" kern="1200"/>
        </a:p>
      </dsp:txBody>
      <dsp:txXfrm>
        <a:off x="3817315" y="1672580"/>
        <a:ext cx="3154207" cy="1577103"/>
      </dsp:txXfrm>
    </dsp:sp>
    <dsp:sp modelId="{CCACF7EF-EB88-4CB2-8528-7BD017ABD8AC}">
      <dsp:nvSpPr>
        <dsp:cNvPr id="0" name=""/>
        <dsp:cNvSpPr/>
      </dsp:nvSpPr>
      <dsp:spPr>
        <a:xfrm>
          <a:off x="7633906" y="1672580"/>
          <a:ext cx="3154207" cy="157710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smtClean="0"/>
            <a:t>Find out what effect CCTV surveillance had on employees’ feelings towards their organization </a:t>
          </a:r>
          <a:endParaRPr lang="en-US" sz="2200" kern="1200"/>
        </a:p>
      </dsp:txBody>
      <dsp:txXfrm>
        <a:off x="7633906" y="1672580"/>
        <a:ext cx="3154207" cy="157710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783BF1-A1EE-4F71-93ED-212C1F80CD8F}">
      <dsp:nvSpPr>
        <dsp:cNvPr id="0" name=""/>
        <dsp:cNvSpPr/>
      </dsp:nvSpPr>
      <dsp:spPr>
        <a:xfrm>
          <a:off x="0" y="34713"/>
          <a:ext cx="7696200" cy="3116879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l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/>
            <a:t>To find out the effect CCTV surveillance have on the employee engagement of the white collar employees of the garment industry in Bangladesh.</a:t>
          </a:r>
          <a:endParaRPr lang="en-US" sz="3600" kern="1200" dirty="0"/>
        </a:p>
      </dsp:txBody>
      <dsp:txXfrm>
        <a:off x="152153" y="186866"/>
        <a:ext cx="7391894" cy="281257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4767F3-C67F-42D0-B056-B6740242CE62}">
      <dsp:nvSpPr>
        <dsp:cNvPr id="0" name=""/>
        <dsp:cNvSpPr/>
      </dsp:nvSpPr>
      <dsp:spPr>
        <a:xfrm>
          <a:off x="4408" y="1515"/>
          <a:ext cx="4952627" cy="495262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/>
            <a:t>Judge work performance by deliverables instead of CCTV footage</a:t>
          </a:r>
          <a:endParaRPr lang="en-US" sz="3600" kern="1200" dirty="0"/>
        </a:p>
      </dsp:txBody>
      <dsp:txXfrm>
        <a:off x="729703" y="726810"/>
        <a:ext cx="3502037" cy="3502037"/>
      </dsp:txXfrm>
    </dsp:sp>
    <dsp:sp modelId="{8DD665BF-040C-4784-B179-2B85FC911E53}">
      <dsp:nvSpPr>
        <dsp:cNvPr id="0" name=""/>
        <dsp:cNvSpPr/>
      </dsp:nvSpPr>
      <dsp:spPr>
        <a:xfrm>
          <a:off x="4713889" y="-724774"/>
          <a:ext cx="3625786" cy="16715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/>
        </a:p>
      </dsp:txBody>
      <dsp:txXfrm>
        <a:off x="4713889" y="-390472"/>
        <a:ext cx="3124333" cy="1002907"/>
      </dsp:txXfrm>
    </dsp:sp>
    <dsp:sp modelId="{0CE4AB6F-BB18-408E-9EA8-CC4308E491E8}">
      <dsp:nvSpPr>
        <dsp:cNvPr id="0" name=""/>
        <dsp:cNvSpPr/>
      </dsp:nvSpPr>
      <dsp:spPr>
        <a:xfrm>
          <a:off x="8301763" y="1515"/>
          <a:ext cx="4952627" cy="495262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lvl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Make employees know by words, actions and practices that CCTV is there to protect them  not to spy on them</a:t>
          </a:r>
          <a:endParaRPr lang="en-US" sz="3200" kern="1200" dirty="0"/>
        </a:p>
      </dsp:txBody>
      <dsp:txXfrm>
        <a:off x="9027058" y="726810"/>
        <a:ext cx="3502037" cy="3502037"/>
      </dsp:txXfrm>
    </dsp:sp>
    <dsp:sp modelId="{0338B865-3FE0-4E17-859E-CF09DB3B7AAA}">
      <dsp:nvSpPr>
        <dsp:cNvPr id="0" name=""/>
        <dsp:cNvSpPr/>
      </dsp:nvSpPr>
      <dsp:spPr>
        <a:xfrm rot="10800000">
          <a:off x="4919123" y="4008920"/>
          <a:ext cx="3625786" cy="16715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/>
        </a:p>
      </dsp:txBody>
      <dsp:txXfrm rot="10800000">
        <a:off x="5420576" y="4343222"/>
        <a:ext cx="3124333" cy="100290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31113C-0D2A-4FCF-831C-F16D5329B335}">
      <dsp:nvSpPr>
        <dsp:cNvPr id="0" name=""/>
        <dsp:cNvSpPr/>
      </dsp:nvSpPr>
      <dsp:spPr>
        <a:xfrm>
          <a:off x="0" y="2590800"/>
          <a:ext cx="15011400" cy="60480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F2CCA4-F0FD-4973-8F52-75E9EED1B3F1}">
      <dsp:nvSpPr>
        <dsp:cNvPr id="0" name=""/>
        <dsp:cNvSpPr/>
      </dsp:nvSpPr>
      <dsp:spPr>
        <a:xfrm>
          <a:off x="750570" y="2239050"/>
          <a:ext cx="10507980" cy="70848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97177" tIns="0" rIns="397177" bIns="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CCTV surveillance helps to make employees feel secure and confident</a:t>
          </a:r>
          <a:endParaRPr lang="en-US" sz="2400" kern="1200" dirty="0"/>
        </a:p>
      </dsp:txBody>
      <dsp:txXfrm>
        <a:off x="785155" y="2273635"/>
        <a:ext cx="10438810" cy="639310"/>
      </dsp:txXfrm>
    </dsp:sp>
    <dsp:sp modelId="{A865AC8A-D5F5-4EA0-B91E-744FAEB29573}">
      <dsp:nvSpPr>
        <dsp:cNvPr id="0" name=""/>
        <dsp:cNvSpPr/>
      </dsp:nvSpPr>
      <dsp:spPr>
        <a:xfrm>
          <a:off x="0" y="3681930"/>
          <a:ext cx="15011400" cy="60480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5FD4E8-9F1A-4D35-90F9-3841B80AFEE0}">
      <dsp:nvSpPr>
        <dsp:cNvPr id="0" name=""/>
        <dsp:cNvSpPr/>
      </dsp:nvSpPr>
      <dsp:spPr>
        <a:xfrm>
          <a:off x="750570" y="3327690"/>
          <a:ext cx="10507980" cy="70848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97177" tIns="0" rIns="397177" bIns="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smtClean="0"/>
            <a:t>It helps to keep troublesome people in check</a:t>
          </a:r>
          <a:endParaRPr lang="en-US" sz="2400" kern="1200"/>
        </a:p>
      </dsp:txBody>
      <dsp:txXfrm>
        <a:off x="785155" y="3362275"/>
        <a:ext cx="10438810" cy="639310"/>
      </dsp:txXfrm>
    </dsp:sp>
    <dsp:sp modelId="{149212A2-268E-4C59-BB96-376AB3D1D308}">
      <dsp:nvSpPr>
        <dsp:cNvPr id="0" name=""/>
        <dsp:cNvSpPr/>
      </dsp:nvSpPr>
      <dsp:spPr>
        <a:xfrm>
          <a:off x="0" y="4770570"/>
          <a:ext cx="15011400" cy="60480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58ED67-4CA5-4D3D-9176-65CECFB64CC2}">
      <dsp:nvSpPr>
        <dsp:cNvPr id="0" name=""/>
        <dsp:cNvSpPr/>
      </dsp:nvSpPr>
      <dsp:spPr>
        <a:xfrm>
          <a:off x="750570" y="4416330"/>
          <a:ext cx="10507980" cy="70848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97177" tIns="0" rIns="397177" bIns="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smtClean="0"/>
            <a:t>It makes solving a lot of issues easier for both management and employees</a:t>
          </a:r>
          <a:endParaRPr lang="en-US" sz="2400" kern="1200"/>
        </a:p>
      </dsp:txBody>
      <dsp:txXfrm>
        <a:off x="785155" y="4450915"/>
        <a:ext cx="10438810" cy="639310"/>
      </dsp:txXfrm>
    </dsp:sp>
    <dsp:sp modelId="{98E7B3BF-4338-4633-8E82-7ADBBE1E1C03}">
      <dsp:nvSpPr>
        <dsp:cNvPr id="0" name=""/>
        <dsp:cNvSpPr/>
      </dsp:nvSpPr>
      <dsp:spPr>
        <a:xfrm>
          <a:off x="0" y="5859210"/>
          <a:ext cx="15011400" cy="60480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0430F9-EB85-4EA5-BB03-CD97C1C734FE}">
      <dsp:nvSpPr>
        <dsp:cNvPr id="0" name=""/>
        <dsp:cNvSpPr/>
      </dsp:nvSpPr>
      <dsp:spPr>
        <a:xfrm>
          <a:off x="750570" y="5504970"/>
          <a:ext cx="10507980" cy="70848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97177" tIns="0" rIns="397177" bIns="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smtClean="0"/>
            <a:t>Employees may feel they are not trusted due to cctv surveillance</a:t>
          </a:r>
          <a:endParaRPr lang="en-US" sz="2400" kern="1200"/>
        </a:p>
      </dsp:txBody>
      <dsp:txXfrm>
        <a:off x="785155" y="5539555"/>
        <a:ext cx="10438810" cy="639310"/>
      </dsp:txXfrm>
    </dsp:sp>
    <dsp:sp modelId="{944BED8B-CF8F-463A-8BAC-036089F9D808}">
      <dsp:nvSpPr>
        <dsp:cNvPr id="0" name=""/>
        <dsp:cNvSpPr/>
      </dsp:nvSpPr>
      <dsp:spPr>
        <a:xfrm>
          <a:off x="0" y="6947849"/>
          <a:ext cx="15011400" cy="60480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F698C6-83A8-4B66-8D79-A02556DE8799}">
      <dsp:nvSpPr>
        <dsp:cNvPr id="0" name=""/>
        <dsp:cNvSpPr/>
      </dsp:nvSpPr>
      <dsp:spPr>
        <a:xfrm>
          <a:off x="750570" y="6593609"/>
          <a:ext cx="10507980" cy="70848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97177" tIns="0" rIns="397177" bIns="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smtClean="0"/>
            <a:t>Employees may feel their privacy is not being respected</a:t>
          </a:r>
          <a:endParaRPr lang="en-US" sz="2400" kern="1200"/>
        </a:p>
      </dsp:txBody>
      <dsp:txXfrm>
        <a:off x="785155" y="6628194"/>
        <a:ext cx="10438810" cy="639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ocs.google.com/spreadsheets/d/1DUF2isFWsqVSYhbaACYtbgcLi_YjDqpE3GLQIVgkKQg/edit#gid=69851113" TargetMode="Externa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DUF2isFWsqVSYhbaACYtbgcLi_YjDqpE3GLQIVgkKQg/edit#gid=69851113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DUF2isFWsqVSYhbaACYtbgcLi_YjDqpE3GLQIVgkKQg/edit#gid=69851113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s://docs.google.com/spreadsheets/d/1DUF2isFWsqVSYhbaACYtbgcLi_YjDqpE3GLQIVgkKQg/edit#gid=69851113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DUF2isFWsqVSYhbaACYtbgcLi_YjDqpE3GLQIVgkKQg/edit#gid=69851113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DUF2isFWsqVSYhbaACYtbgcLi_YjDqpE3GLQIVgkKQg/edit#gid=69851113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DUF2isFWsqVSYhbaACYtbgcLi_YjDqpE3GLQIVgkKQg/edit#gid=69851113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DUF2isFWsqVSYhbaACYtbgcLi_YjDqpE3GLQIVgkKQg/edit#gid=69851113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250796"/>
              </p:ext>
            </p:extLst>
          </p:nvPr>
        </p:nvGraphicFramePr>
        <p:xfrm>
          <a:off x="-357028" y="7661987"/>
          <a:ext cx="18983006" cy="1596313"/>
        </p:xfrm>
        <a:graphic>
          <a:graphicData uri="http://schemas.openxmlformats.org/drawingml/2006/table">
            <a:tbl>
              <a:tblPr/>
              <a:tblGrid>
                <a:gridCol w="9491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915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96313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dirty="0">
                          <a:solidFill>
                            <a:srgbClr val="141414"/>
                          </a:solidFill>
                          <a:latin typeface="Caladea Bold"/>
                        </a:rPr>
                        <a:t>Submitted by </a:t>
                      </a:r>
                      <a:r>
                        <a:rPr lang="en-US" sz="3200" dirty="0" err="1" smtClean="0">
                          <a:solidFill>
                            <a:srgbClr val="141414"/>
                          </a:solidFill>
                          <a:latin typeface="Caladea Bold"/>
                        </a:rPr>
                        <a:t>Md</a:t>
                      </a:r>
                      <a:r>
                        <a:rPr lang="en-US" sz="3200" baseline="0" dirty="0" smtClean="0">
                          <a:solidFill>
                            <a:srgbClr val="141414"/>
                          </a:solidFill>
                          <a:latin typeface="Caladea Bold"/>
                        </a:rPr>
                        <a:t> Golam </a:t>
                      </a:r>
                      <a:r>
                        <a:rPr lang="en-US" sz="3200" baseline="0" dirty="0" err="1" smtClean="0">
                          <a:solidFill>
                            <a:srgbClr val="141414"/>
                          </a:solidFill>
                          <a:latin typeface="Caladea Bold"/>
                        </a:rPr>
                        <a:t>Muktadir</a:t>
                      </a:r>
                      <a:r>
                        <a:rPr lang="en-US" sz="3200" baseline="0" dirty="0" smtClean="0">
                          <a:solidFill>
                            <a:srgbClr val="141414"/>
                          </a:solidFill>
                          <a:latin typeface="Caladea Bold"/>
                        </a:rPr>
                        <a:t> Asif</a:t>
                      </a:r>
                    </a:p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aseline="0" dirty="0" smtClean="0">
                          <a:solidFill>
                            <a:srgbClr val="141414"/>
                          </a:solidFill>
                          <a:latin typeface="Caladea Bold"/>
                        </a:rPr>
                        <a:t>Roll:026 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76200" cap="flat" cmpd="sng" algn="ctr">
                      <a:solidFill>
                        <a:srgbClr val="9BD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4480"/>
                        </a:lnSpc>
                        <a:defRPr/>
                      </a:pPr>
                      <a:r>
                        <a:rPr lang="en-US" sz="3200" kern="1200" dirty="0" smtClean="0">
                          <a:solidFill>
                            <a:srgbClr val="141414"/>
                          </a:solidFill>
                          <a:latin typeface="Caladea Bold"/>
                          <a:ea typeface="+mn-ea"/>
                          <a:cs typeface="+mn-cs"/>
                        </a:rPr>
                        <a:t>Supervised </a:t>
                      </a:r>
                      <a:r>
                        <a:rPr lang="en-US" sz="3200" kern="1200" dirty="0" smtClean="0">
                          <a:solidFill>
                            <a:srgbClr val="141414"/>
                          </a:solidFill>
                          <a:latin typeface="Caladea Bold"/>
                          <a:ea typeface="+mn-ea"/>
                          <a:cs typeface="+mn-cs"/>
                        </a:rPr>
                        <a:t>by Ms. </a:t>
                      </a:r>
                      <a:r>
                        <a:rPr lang="en-US" sz="3200" kern="1200" dirty="0" err="1" smtClean="0">
                          <a:solidFill>
                            <a:srgbClr val="141414"/>
                          </a:solidFill>
                          <a:latin typeface="Caladea Bold"/>
                          <a:ea typeface="+mn-ea"/>
                          <a:cs typeface="+mn-cs"/>
                        </a:rPr>
                        <a:t>Fatematuz</a:t>
                      </a:r>
                      <a:r>
                        <a:rPr lang="en-US" sz="3200" kern="1200" dirty="0" smtClean="0">
                          <a:solidFill>
                            <a:srgbClr val="141414"/>
                          </a:solidFill>
                          <a:latin typeface="Caladea Bold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3200" kern="1200" dirty="0" smtClean="0">
                          <a:solidFill>
                            <a:srgbClr val="141414"/>
                          </a:solidFill>
                          <a:latin typeface="Caladea Bold"/>
                          <a:ea typeface="+mn-ea"/>
                          <a:cs typeface="+mn-cs"/>
                        </a:rPr>
                        <a:t>Zahra </a:t>
                      </a:r>
                      <a:r>
                        <a:rPr lang="en-US" sz="3200" kern="1200" dirty="0" err="1" smtClean="0">
                          <a:solidFill>
                            <a:srgbClr val="141414"/>
                          </a:solidFill>
                          <a:latin typeface="Caladea Bold"/>
                          <a:ea typeface="+mn-ea"/>
                          <a:cs typeface="+mn-cs"/>
                        </a:rPr>
                        <a:t>Saqui</a:t>
                      </a:r>
                      <a:endParaRPr lang="en-US" sz="3200" kern="1200" dirty="0" smtClean="0">
                        <a:solidFill>
                          <a:srgbClr val="141414"/>
                        </a:solidFill>
                        <a:latin typeface="Caladea Bold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ts val="4480"/>
                        </a:lnSpc>
                        <a:defRPr/>
                      </a:pPr>
                      <a:r>
                        <a:rPr lang="en-US" sz="3200" kern="1200" dirty="0" smtClean="0">
                          <a:solidFill>
                            <a:srgbClr val="141414"/>
                          </a:solidFill>
                          <a:latin typeface="Caladea Bold"/>
                          <a:ea typeface="+mn-ea"/>
                          <a:cs typeface="+mn-cs"/>
                        </a:rPr>
                        <a:t>Lecturer</a:t>
                      </a:r>
                      <a:endParaRPr lang="en-US" sz="3200" kern="1200" dirty="0">
                        <a:solidFill>
                          <a:srgbClr val="141414"/>
                        </a:solidFill>
                        <a:latin typeface="Caladea Bold"/>
                        <a:ea typeface="+mn-ea"/>
                        <a:cs typeface="+mn-cs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9BDF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1003300" y="971550"/>
            <a:ext cx="12153899" cy="2517375"/>
            <a:chOff x="-33867" y="-76200"/>
            <a:chExt cx="16205199" cy="3356500"/>
          </a:xfrm>
        </p:grpSpPr>
        <p:sp>
          <p:nvSpPr>
            <p:cNvPr id="4" name="TextBox 4"/>
            <p:cNvSpPr txBox="1"/>
            <p:nvPr/>
          </p:nvSpPr>
          <p:spPr>
            <a:xfrm>
              <a:off x="-33867" y="604012"/>
              <a:ext cx="16205199" cy="267628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6800"/>
                </a:lnSpc>
              </a:pPr>
              <a:r>
                <a:rPr lang="en-US" sz="9800" dirty="0">
                  <a:solidFill>
                    <a:srgbClr val="141414"/>
                  </a:solidFill>
                  <a:latin typeface="Caladea Bold"/>
                </a:rPr>
                <a:t>Thesis Defense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14969370" cy="6565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r>
                <a:rPr lang="en-US" sz="3000" dirty="0" smtClean="0">
                  <a:solidFill>
                    <a:srgbClr val="141414"/>
                  </a:solidFill>
                  <a:latin typeface="Public Sans"/>
                </a:rPr>
                <a:t>IBA University of Dhaka</a:t>
              </a:r>
              <a:endParaRPr lang="en-US" sz="3000" dirty="0">
                <a:solidFill>
                  <a:srgbClr val="141414"/>
                </a:solidFill>
                <a:latin typeface="Public Sans"/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2964407" y="3506705"/>
            <a:ext cx="9296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/>
              <a:t>Topic: Effect of CCTV surveillance on the white collar employees of Hameem Group</a:t>
            </a:r>
            <a:endParaRPr lang="en-US" sz="4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0838804" cy="323984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</p:sp>
      <p:sp>
        <p:nvSpPr>
          <p:cNvPr id="3" name="AutoShape 3"/>
          <p:cNvSpPr/>
          <p:nvPr/>
        </p:nvSpPr>
        <p:spPr>
          <a:xfrm>
            <a:off x="-311386" y="3239846"/>
            <a:ext cx="11150190" cy="0"/>
          </a:xfrm>
          <a:prstGeom prst="line">
            <a:avLst/>
          </a:prstGeom>
          <a:ln w="19050" cap="flat">
            <a:solidFill>
              <a:srgbClr val="14141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 rot="-5400000">
            <a:off x="5685779" y="5133975"/>
            <a:ext cx="10287000" cy="0"/>
          </a:xfrm>
          <a:prstGeom prst="line">
            <a:avLst/>
          </a:prstGeom>
          <a:ln w="19050" cap="flat">
            <a:solidFill>
              <a:srgbClr val="14141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028700" y="864654"/>
            <a:ext cx="8992881" cy="1390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10800"/>
              </a:lnSpc>
              <a:spcBef>
                <a:spcPct val="0"/>
              </a:spcBef>
            </a:pPr>
            <a:r>
              <a:rPr lang="en-US" sz="9000" u="none" dirty="0" smtClean="0">
                <a:solidFill>
                  <a:srgbClr val="141414"/>
                </a:solidFill>
                <a:latin typeface="Caladea Bold"/>
              </a:rPr>
              <a:t>Background</a:t>
            </a:r>
            <a:endParaRPr lang="en-US" sz="9000" u="none" dirty="0">
              <a:solidFill>
                <a:srgbClr val="141414"/>
              </a:solidFill>
              <a:latin typeface="Caladea Bold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2597" y="2286381"/>
            <a:ext cx="5695188" cy="5695188"/>
          </a:xfrm>
          <a:prstGeom prst="rect">
            <a:avLst/>
          </a:prstGeom>
        </p:spPr>
      </p:pic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237490753"/>
              </p:ext>
            </p:extLst>
          </p:nvPr>
        </p:nvGraphicFramePr>
        <p:xfrm>
          <a:off x="0" y="4033155"/>
          <a:ext cx="10057755" cy="47321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-134053" y="9258300"/>
            <a:ext cx="18422053" cy="76200"/>
          </a:xfrm>
          <a:prstGeom prst="line">
            <a:avLst/>
          </a:prstGeom>
          <a:ln w="19050" cap="flat">
            <a:solidFill>
              <a:srgbClr val="14141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flipV="1">
            <a:off x="0" y="3238500"/>
            <a:ext cx="18288000" cy="4905"/>
          </a:xfrm>
          <a:prstGeom prst="line">
            <a:avLst/>
          </a:prstGeom>
          <a:ln w="19050" cap="flat">
            <a:solidFill>
              <a:srgbClr val="14141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028700" y="1009650"/>
            <a:ext cx="14596336" cy="1390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10800"/>
              </a:lnSpc>
              <a:spcBef>
                <a:spcPct val="0"/>
              </a:spcBef>
            </a:pPr>
            <a:r>
              <a:rPr lang="en-US" sz="9000" dirty="0" smtClean="0">
                <a:solidFill>
                  <a:srgbClr val="141414"/>
                </a:solidFill>
                <a:latin typeface="Caladea Bold"/>
              </a:rPr>
              <a:t>Origin of the Report</a:t>
            </a:r>
            <a:endParaRPr lang="en-US" sz="9000" u="none" dirty="0">
              <a:solidFill>
                <a:srgbClr val="141414"/>
              </a:solidFill>
              <a:latin typeface="Caladea Bold"/>
            </a:endParaRPr>
          </a:p>
        </p:txBody>
      </p:sp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2535086612"/>
              </p:ext>
            </p:extLst>
          </p:nvPr>
        </p:nvGraphicFramePr>
        <p:xfrm>
          <a:off x="1020679" y="3771900"/>
          <a:ext cx="16260679" cy="4358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94311" y="-11530"/>
            <a:ext cx="11893689" cy="51339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sp>
      <p:sp>
        <p:nvSpPr>
          <p:cNvPr id="3" name="AutoShape 3"/>
          <p:cNvSpPr/>
          <p:nvPr/>
        </p:nvSpPr>
        <p:spPr>
          <a:xfrm rot="-5400000">
            <a:off x="1250811" y="5133975"/>
            <a:ext cx="10287000" cy="0"/>
          </a:xfrm>
          <a:prstGeom prst="line">
            <a:avLst/>
          </a:prstGeom>
          <a:ln w="19050" cap="flat">
            <a:solidFill>
              <a:srgbClr val="14141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6394311" y="5122445"/>
            <a:ext cx="11893689" cy="11530"/>
          </a:xfrm>
          <a:prstGeom prst="line">
            <a:avLst/>
          </a:prstGeom>
          <a:ln w="19050" cap="flat">
            <a:solidFill>
              <a:srgbClr val="14141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9447307" y="1654673"/>
            <a:ext cx="7154014" cy="2191512"/>
            <a:chOff x="0" y="-19050"/>
            <a:chExt cx="9538685" cy="2922016"/>
          </a:xfrm>
        </p:grpSpPr>
        <p:sp>
          <p:nvSpPr>
            <p:cNvPr id="6" name="TextBox 6"/>
            <p:cNvSpPr txBox="1"/>
            <p:nvPr/>
          </p:nvSpPr>
          <p:spPr>
            <a:xfrm>
              <a:off x="0" y="-19050"/>
              <a:ext cx="9538685" cy="184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10800"/>
                </a:lnSpc>
                <a:spcBef>
                  <a:spcPct val="0"/>
                </a:spcBef>
              </a:pPr>
              <a:endParaRPr lang="en-US" sz="9000" u="none" dirty="0">
                <a:solidFill>
                  <a:srgbClr val="141414"/>
                </a:solidFill>
                <a:latin typeface="Caladea Bold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284933"/>
              <a:ext cx="9538685" cy="6180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3900"/>
                </a:lnSpc>
                <a:spcBef>
                  <a:spcPct val="0"/>
                </a:spcBef>
              </a:pPr>
              <a:endParaRPr lang="en-US" sz="3000" u="none" dirty="0">
                <a:solidFill>
                  <a:srgbClr val="141414"/>
                </a:solidFill>
                <a:latin typeface="Public Sans Bold"/>
              </a:endParaRPr>
            </a:p>
          </p:txBody>
        </p:sp>
      </p:grpSp>
      <p:graphicFrame>
        <p:nvGraphicFramePr>
          <p:cNvPr id="15" name="Diagram 14"/>
          <p:cNvGraphicFramePr/>
          <p:nvPr>
            <p:extLst>
              <p:ext uri="{D42A27DB-BD31-4B8C-83A1-F6EECF244321}">
                <p14:modId xmlns:p14="http://schemas.microsoft.com/office/powerpoint/2010/main" val="2540297947"/>
              </p:ext>
            </p:extLst>
          </p:nvPr>
        </p:nvGraphicFramePr>
        <p:xfrm>
          <a:off x="6858000" y="5391976"/>
          <a:ext cx="10788838" cy="4922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1054100" y="3586482"/>
            <a:ext cx="5340211" cy="2769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10800"/>
              </a:lnSpc>
              <a:spcBef>
                <a:spcPct val="0"/>
              </a:spcBef>
            </a:pPr>
            <a:r>
              <a:rPr lang="en-US" sz="9000" u="none" dirty="0" err="1" smtClean="0">
                <a:solidFill>
                  <a:srgbClr val="141414"/>
                </a:solidFill>
                <a:latin typeface="Caladea Bold"/>
              </a:rPr>
              <a:t>ResearchObjective</a:t>
            </a:r>
            <a:endParaRPr lang="en-US" sz="9000" u="none" dirty="0">
              <a:solidFill>
                <a:srgbClr val="141414"/>
              </a:solidFill>
              <a:latin typeface="Caladea Bold"/>
            </a:endParaRPr>
          </a:p>
        </p:txBody>
      </p:sp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val="2927644296"/>
              </p:ext>
            </p:extLst>
          </p:nvPr>
        </p:nvGraphicFramePr>
        <p:xfrm>
          <a:off x="8197514" y="1205649"/>
          <a:ext cx="7696200" cy="31700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9113950" y="190500"/>
            <a:ext cx="55926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u="sng" dirty="0" smtClean="0"/>
              <a:t>Board Objective</a:t>
            </a:r>
            <a:endParaRPr lang="en-US" sz="4800" b="1" u="sng" dirty="0"/>
          </a:p>
        </p:txBody>
      </p:sp>
      <p:sp>
        <p:nvSpPr>
          <p:cNvPr id="14" name="TextBox 13"/>
          <p:cNvSpPr txBox="1"/>
          <p:nvPr/>
        </p:nvSpPr>
        <p:spPr>
          <a:xfrm>
            <a:off x="9201614" y="5318128"/>
            <a:ext cx="55926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u="sng" dirty="0" smtClean="0"/>
              <a:t>Specific Objectives</a:t>
            </a:r>
            <a:endParaRPr lang="en-US" sz="4800" b="1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8655944" y="1014412"/>
            <a:ext cx="8650451" cy="7760843"/>
            <a:chOff x="0" y="-19050"/>
            <a:chExt cx="11533935" cy="10347788"/>
          </a:xfrm>
        </p:grpSpPr>
        <p:sp>
          <p:nvSpPr>
            <p:cNvPr id="5" name="TextBox 5"/>
            <p:cNvSpPr txBox="1"/>
            <p:nvPr/>
          </p:nvSpPr>
          <p:spPr>
            <a:xfrm>
              <a:off x="0" y="-19050"/>
              <a:ext cx="11471142" cy="184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10800"/>
                </a:lnSpc>
                <a:spcBef>
                  <a:spcPct val="0"/>
                </a:spcBef>
              </a:pPr>
              <a:r>
                <a:rPr lang="en-US" sz="9000" u="none" dirty="0" smtClean="0">
                  <a:solidFill>
                    <a:srgbClr val="141414"/>
                  </a:solidFill>
                  <a:latin typeface="Caladea Bold"/>
                </a:rPr>
                <a:t>Literary Review</a:t>
              </a:r>
              <a:endParaRPr lang="en-US" sz="9000" u="none" dirty="0">
                <a:solidFill>
                  <a:srgbClr val="141414"/>
                </a:solidFill>
                <a:latin typeface="Caladea Bold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297180"/>
              <a:ext cx="11471142" cy="24952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718"/>
                </a:lnSpc>
              </a:pPr>
              <a:r>
                <a:rPr lang="en-US" sz="2800" dirty="0"/>
                <a:t>E</a:t>
              </a:r>
              <a:r>
                <a:rPr lang="en-US" sz="2800" dirty="0" smtClean="0"/>
                <a:t>mployee </a:t>
              </a:r>
              <a:r>
                <a:rPr lang="en-US" sz="2800" dirty="0"/>
                <a:t>engagement consists of four components, which are: meaningful work, supportive work environment, positive work environment and growth </a:t>
              </a:r>
              <a:r>
                <a:rPr lang="en-US" sz="2800" dirty="0" smtClean="0"/>
                <a:t>opportunities </a:t>
              </a:r>
              <a:r>
                <a:rPr lang="en-US" sz="2400" dirty="0"/>
                <a:t>(Harter &amp; Adkins, 2015) </a:t>
              </a:r>
              <a:endParaRPr lang="en-US" sz="2600" dirty="0">
                <a:solidFill>
                  <a:srgbClr val="141414"/>
                </a:solidFill>
                <a:latin typeface="Public Sans"/>
                <a:hlinkClick r:id="rId2" tooltip="https://docs.google.com/spreadsheets/d/1DUF2isFWsqVSYhbaACYtbgcLi_YjDqpE3GLQIVgkKQg/edit#gid=69851113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2793" y="2667409"/>
              <a:ext cx="11471142" cy="6180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dirty="0" smtClean="0">
                  <a:solidFill>
                    <a:srgbClr val="141414"/>
                  </a:solidFill>
                  <a:latin typeface="Public Sans Bold"/>
                </a:rPr>
                <a:t>What is employee engagement?</a:t>
              </a:r>
              <a:endParaRPr lang="en-US" sz="3000" u="none" dirty="0">
                <a:solidFill>
                  <a:srgbClr val="141414"/>
                </a:solidFill>
                <a:latin typeface="Public Sans Bold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6737" y="7833440"/>
              <a:ext cx="11471142" cy="24952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718"/>
                </a:lnSpc>
              </a:pPr>
              <a:r>
                <a:rPr lang="en-US" sz="2800" dirty="0"/>
                <a:t>white-collar worker refers to someone engaged in desk, managerial, or administrative roles, and earn higher than the average </a:t>
              </a:r>
              <a:r>
                <a:rPr lang="en-US" sz="2800" dirty="0" smtClean="0"/>
                <a:t>salaries and are not expected to do </a:t>
              </a:r>
              <a:r>
                <a:rPr lang="en-US" sz="2800" dirty="0"/>
                <a:t>manual labor. (</a:t>
              </a:r>
              <a:r>
                <a:rPr lang="en-US" sz="2800" dirty="0" err="1"/>
                <a:t>Srivastav</a:t>
              </a:r>
              <a:r>
                <a:rPr lang="en-US" sz="2800" dirty="0"/>
                <a:t> &amp; Vaidya, </a:t>
              </a:r>
              <a:r>
                <a:rPr lang="en-US" sz="2800" dirty="0" err="1"/>
                <a:t>n.d.</a:t>
              </a:r>
              <a:r>
                <a:rPr lang="en-US" sz="2800" dirty="0"/>
                <a:t>) </a:t>
              </a:r>
              <a:endParaRPr lang="en-US" sz="2600" dirty="0">
                <a:solidFill>
                  <a:srgbClr val="141414"/>
                </a:solidFill>
                <a:latin typeface="Public Sans"/>
                <a:hlinkClick r:id="rId2" tooltip="https://docs.google.com/spreadsheets/d/1DUF2isFWsqVSYhbaACYtbgcLi_YjDqpE3GLQIVgkKQg/edit#gid=69851113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7260859"/>
              <a:ext cx="11471142" cy="6180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dirty="0" smtClean="0">
                  <a:solidFill>
                    <a:srgbClr val="141414"/>
                  </a:solidFill>
                  <a:latin typeface="Public Sans Bold"/>
                </a:rPr>
                <a:t>What is a white collar worker?</a:t>
              </a:r>
              <a:endParaRPr lang="en-US" sz="3000" u="none" dirty="0">
                <a:solidFill>
                  <a:srgbClr val="141414"/>
                </a:solidFill>
                <a:latin typeface="Public Sans Bold"/>
              </a:endParaRPr>
            </a:p>
          </p:txBody>
        </p:sp>
        <p:sp>
          <p:nvSpPr>
            <p:cNvPr id="10" name="AutoShape 10"/>
            <p:cNvSpPr/>
            <p:nvPr/>
          </p:nvSpPr>
          <p:spPr>
            <a:xfrm>
              <a:off x="0" y="7004381"/>
              <a:ext cx="11344663" cy="0"/>
            </a:xfrm>
            <a:prstGeom prst="line">
              <a:avLst/>
            </a:prstGeom>
            <a:ln w="25400" cap="flat">
              <a:solidFill>
                <a:srgbClr val="14141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" name="AutoShape 11"/>
            <p:cNvSpPr/>
            <p:nvPr/>
          </p:nvSpPr>
          <p:spPr>
            <a:xfrm>
              <a:off x="125587" y="2435561"/>
              <a:ext cx="11345555" cy="0"/>
            </a:xfrm>
            <a:prstGeom prst="line">
              <a:avLst/>
            </a:prstGeom>
            <a:ln w="25400" cap="flat">
              <a:solidFill>
                <a:srgbClr val="141414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2" name="AutoShape 12"/>
          <p:cNvSpPr/>
          <p:nvPr/>
        </p:nvSpPr>
        <p:spPr>
          <a:xfrm rot="-5400000">
            <a:off x="2216179" y="5133975"/>
            <a:ext cx="10287000" cy="0"/>
          </a:xfrm>
          <a:prstGeom prst="line">
            <a:avLst/>
          </a:prstGeom>
          <a:ln w="19050" cap="flat">
            <a:solidFill>
              <a:srgbClr val="141414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8301" y="657677"/>
            <a:ext cx="8143171" cy="81431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09650"/>
            <a:ext cx="14596336" cy="1390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10800"/>
              </a:lnSpc>
              <a:spcBef>
                <a:spcPct val="0"/>
              </a:spcBef>
            </a:pPr>
            <a:r>
              <a:rPr lang="en-US" sz="9000" u="none" dirty="0">
                <a:solidFill>
                  <a:srgbClr val="141414"/>
                </a:solidFill>
                <a:latin typeface="Caladea Bold"/>
              </a:rPr>
              <a:t>Literary Review</a:t>
            </a:r>
          </a:p>
        </p:txBody>
      </p:sp>
      <p:sp>
        <p:nvSpPr>
          <p:cNvPr id="3" name="AutoShape 3"/>
          <p:cNvSpPr/>
          <p:nvPr/>
        </p:nvSpPr>
        <p:spPr>
          <a:xfrm>
            <a:off x="0" y="2889270"/>
            <a:ext cx="9134475" cy="73977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sp>
      <p:sp>
        <p:nvSpPr>
          <p:cNvPr id="4" name="AutoShape 4"/>
          <p:cNvSpPr/>
          <p:nvPr/>
        </p:nvSpPr>
        <p:spPr>
          <a:xfrm>
            <a:off x="9144000" y="2870220"/>
            <a:ext cx="9134475" cy="74167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sp>
      <p:sp>
        <p:nvSpPr>
          <p:cNvPr id="5" name="AutoShape 5"/>
          <p:cNvSpPr/>
          <p:nvPr/>
        </p:nvSpPr>
        <p:spPr>
          <a:xfrm>
            <a:off x="-134053" y="2870220"/>
            <a:ext cx="18556106" cy="0"/>
          </a:xfrm>
          <a:prstGeom prst="line">
            <a:avLst/>
          </a:prstGeom>
          <a:ln w="19050" cap="flat">
            <a:solidFill>
              <a:srgbClr val="14141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rot="-5400000">
            <a:off x="5435610" y="6569085"/>
            <a:ext cx="7416780" cy="0"/>
          </a:xfrm>
          <a:prstGeom prst="line">
            <a:avLst/>
          </a:prstGeom>
          <a:ln w="19050" cap="flat">
            <a:solidFill>
              <a:srgbClr val="14141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028700" y="4452062"/>
            <a:ext cx="7553826" cy="1810658"/>
            <a:chOff x="12700" y="-4265919"/>
            <a:chExt cx="10071769" cy="2414207"/>
          </a:xfrm>
        </p:grpSpPr>
        <p:sp>
          <p:nvSpPr>
            <p:cNvPr id="8" name="TextBox 8"/>
            <p:cNvSpPr txBox="1"/>
            <p:nvPr/>
          </p:nvSpPr>
          <p:spPr>
            <a:xfrm>
              <a:off x="12700" y="-3373323"/>
              <a:ext cx="10071769" cy="152161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940"/>
                </a:lnSpc>
              </a:pPr>
              <a:r>
                <a:rPr lang="en-US" sz="2800" dirty="0"/>
                <a:t>CCTV surveillance is the usage of strategically placed cameras to capture footage in specific areas. (Sime, 2021)</a:t>
              </a:r>
              <a:endParaRPr lang="en-US" sz="2800" dirty="0">
                <a:solidFill>
                  <a:srgbClr val="141414"/>
                </a:solidFill>
                <a:latin typeface="Public Sans"/>
                <a:hlinkClick r:id="rId2" tooltip="https://docs.google.com/spreadsheets/d/1DUF2isFWsqVSYhbaACYtbgcLi_YjDqpE3GLQIVgkKQg/edit#gid=69851113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7128" y="-4265919"/>
              <a:ext cx="9502506" cy="6180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dirty="0" smtClean="0">
                  <a:solidFill>
                    <a:srgbClr val="141414"/>
                  </a:solidFill>
                  <a:latin typeface="Public Sans Bold"/>
                </a:rPr>
                <a:t>What is CCTV surveillance?</a:t>
              </a:r>
              <a:endParaRPr lang="en-US" sz="3000" u="none" dirty="0">
                <a:solidFill>
                  <a:srgbClr val="141414"/>
                </a:solidFill>
                <a:latin typeface="Public Sans Bold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148342" y="4441456"/>
            <a:ext cx="7106740" cy="4027124"/>
            <a:chOff x="-5624" y="-4274139"/>
            <a:chExt cx="9475653" cy="5369500"/>
          </a:xfrm>
        </p:grpSpPr>
        <p:sp>
          <p:nvSpPr>
            <p:cNvPr id="11" name="TextBox 11"/>
            <p:cNvSpPr txBox="1"/>
            <p:nvPr/>
          </p:nvSpPr>
          <p:spPr>
            <a:xfrm>
              <a:off x="-5624" y="-3367400"/>
              <a:ext cx="9475653" cy="44627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indent="-342900">
                <a:lnSpc>
                  <a:spcPts val="2940"/>
                </a:lnSpc>
                <a:buFont typeface="Arial" panose="020B0604020202020204" pitchFamily="34" charset="0"/>
                <a:buChar char="•"/>
              </a:pPr>
              <a:r>
                <a:rPr lang="en-US" sz="2800" dirty="0" smtClean="0"/>
                <a:t>CCTV surveillance allows </a:t>
              </a:r>
              <a:r>
                <a:rPr lang="en-US" sz="2800" dirty="0"/>
                <a:t>managers to monitor employee behavior and performance, and ensure that employees are following company rules and policies. . (Cheng, 2019)</a:t>
              </a:r>
            </a:p>
            <a:p>
              <a:pPr indent="-342900">
                <a:lnSpc>
                  <a:spcPts val="2940"/>
                </a:lnSpc>
                <a:buFont typeface="Arial" panose="020B0604020202020204" pitchFamily="34" charset="0"/>
                <a:buChar char="•"/>
              </a:pPr>
              <a:r>
                <a:rPr lang="en-US" sz="2800" dirty="0"/>
                <a:t>CCTV can provide a lot of benefits to corporate offices such as enhanced security, theft prevention, and increased productivity. (Cheng, 2019)</a:t>
              </a:r>
            </a:p>
            <a:p>
              <a:pPr marL="342900" indent="-342900">
                <a:lnSpc>
                  <a:spcPts val="2940"/>
                </a:lnSpc>
                <a:buFont typeface="Arial" panose="020B0604020202020204" pitchFamily="34" charset="0"/>
                <a:buChar char="•"/>
              </a:pPr>
              <a:endParaRPr lang="en-US" sz="2800" dirty="0">
                <a:solidFill>
                  <a:srgbClr val="F1F1F1"/>
                </a:solidFill>
                <a:latin typeface="Public Sans"/>
                <a:hlinkClick r:id="rId2" tooltip="https://docs.google.com/spreadsheets/d/1DUF2isFWsqVSYhbaACYtbgcLi_YjDqpE3GLQIVgkKQg/edit#gid=69851113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-5624" y="-4274139"/>
              <a:ext cx="9475653" cy="6180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00"/>
                </a:lnSpc>
                <a:spcBef>
                  <a:spcPct val="0"/>
                </a:spcBef>
              </a:pPr>
              <a:r>
                <a:rPr lang="en-US" sz="3000" dirty="0">
                  <a:solidFill>
                    <a:srgbClr val="141414"/>
                  </a:solidFill>
                  <a:latin typeface="Public Sans Bold"/>
                </a:rPr>
                <a:t>CCTV surveillance in corporate offices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018173"/>
            <a:ext cx="1672590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20"/>
              </a:lnSpc>
            </a:pPr>
            <a:r>
              <a:rPr lang="en-US" sz="5400" dirty="0" smtClean="0">
                <a:solidFill>
                  <a:srgbClr val="141414"/>
                </a:solidFill>
                <a:latin typeface="Caladea"/>
              </a:rPr>
              <a:t>Effect of CCTV surveillance on employee engagement</a:t>
            </a:r>
            <a:endParaRPr lang="en-US" sz="5400" dirty="0">
              <a:solidFill>
                <a:srgbClr val="141414"/>
              </a:solidFill>
              <a:latin typeface="Caladea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12658" y="4575864"/>
            <a:ext cx="15887700" cy="4524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smtClean="0"/>
              <a:t>There </a:t>
            </a:r>
            <a:r>
              <a:rPr lang="en-US" sz="2800" dirty="0"/>
              <a:t>is a medium positive and statistically significant correlation between CCTV monitoring and employee engagement. (</a:t>
            </a:r>
            <a:r>
              <a:rPr lang="en-US" sz="2800" dirty="0" err="1"/>
              <a:t>Gichuchi</a:t>
            </a:r>
            <a:r>
              <a:rPr lang="en-US" sz="2800" dirty="0"/>
              <a:t>, </a:t>
            </a:r>
            <a:r>
              <a:rPr lang="en-US" sz="2800" dirty="0" err="1"/>
              <a:t>Senaji</a:t>
            </a:r>
            <a:r>
              <a:rPr lang="en-US" sz="2800" dirty="0"/>
              <a:t>, &amp; </a:t>
            </a:r>
            <a:r>
              <a:rPr lang="en-US" sz="2800" dirty="0" err="1"/>
              <a:t>Ngari</a:t>
            </a:r>
            <a:r>
              <a:rPr lang="en-US" sz="2800" dirty="0"/>
              <a:t>, 2016)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smtClean="0"/>
              <a:t>Employees who are highly engaged in their work do not feel a dip in motivation due to CCTV surveillance (Tsvangirai </a:t>
            </a:r>
            <a:r>
              <a:rPr lang="en-US" sz="2800" dirty="0"/>
              <a:t>&amp; </a:t>
            </a:r>
            <a:r>
              <a:rPr lang="en-US" sz="2800" dirty="0" err="1"/>
              <a:t>Chinyamurindi</a:t>
            </a:r>
            <a:r>
              <a:rPr lang="en-US" sz="2800" dirty="0"/>
              <a:t>, 2019)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CCTV monitoring of employees leads to reduced trust in the company by employees, feelings of privacy invasion amongst employees, development of a false sense of security, lowering of employee morale and higher employee turnover. (Nguyen, </a:t>
            </a:r>
            <a:r>
              <a:rPr lang="en-US" sz="2800" dirty="0" err="1"/>
              <a:t>n.d.</a:t>
            </a:r>
            <a:r>
              <a:rPr lang="en-US" sz="2800" dirty="0"/>
              <a:t>)</a:t>
            </a:r>
            <a:endParaRPr lang="en-US" sz="2600" dirty="0">
              <a:solidFill>
                <a:srgbClr val="141414"/>
              </a:solidFill>
              <a:latin typeface="Public Sans"/>
              <a:hlinkClick r:id="rId2" tooltip="https://docs.google.com/spreadsheets/d/1DUF2isFWsqVSYhbaACYtbgcLi_YjDqpE3GLQIVgkKQg/edit#gid=69851113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1009650"/>
            <a:ext cx="16230600" cy="1390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10800"/>
              </a:lnSpc>
              <a:spcBef>
                <a:spcPct val="0"/>
              </a:spcBef>
            </a:pPr>
            <a:r>
              <a:rPr lang="en-US" sz="9000" u="none" dirty="0" smtClean="0">
                <a:solidFill>
                  <a:srgbClr val="141414"/>
                </a:solidFill>
                <a:latin typeface="Caladea Bold"/>
              </a:rPr>
              <a:t>Literature Review</a:t>
            </a:r>
            <a:endParaRPr lang="en-US" sz="9000" u="none" dirty="0">
              <a:solidFill>
                <a:srgbClr val="141414"/>
              </a:solidFill>
              <a:latin typeface="Caladea Bold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28700" y="2705100"/>
            <a:ext cx="16230600" cy="0"/>
          </a:xfrm>
          <a:prstGeom prst="line">
            <a:avLst/>
          </a:prstGeom>
          <a:ln w="19050" cap="flat">
            <a:solidFill>
              <a:srgbClr val="14141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flipV="1">
            <a:off x="1028700" y="4228927"/>
            <a:ext cx="16230600" cy="33865"/>
          </a:xfrm>
          <a:prstGeom prst="line">
            <a:avLst/>
          </a:prstGeom>
          <a:ln w="19050" cap="flat">
            <a:solidFill>
              <a:srgbClr val="141414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9704126" cy="3531622"/>
          </a:xfrm>
          <a:prstGeom prst="rect">
            <a:avLst/>
          </a:prstGeom>
          <a:solidFill>
            <a:srgbClr val="8268D6"/>
          </a:solidFill>
        </p:spPr>
      </p:sp>
      <p:grpSp>
        <p:nvGrpSpPr>
          <p:cNvPr id="3" name="Group 3"/>
          <p:cNvGrpSpPr/>
          <p:nvPr/>
        </p:nvGrpSpPr>
        <p:grpSpPr>
          <a:xfrm>
            <a:off x="-304800" y="0"/>
            <a:ext cx="9991282" cy="10287000"/>
            <a:chOff x="0" y="0"/>
            <a:chExt cx="13321710" cy="13716000"/>
          </a:xfrm>
        </p:grpSpPr>
        <p:sp>
          <p:nvSpPr>
            <p:cNvPr id="4" name="AutoShape 4"/>
            <p:cNvSpPr/>
            <p:nvPr/>
          </p:nvSpPr>
          <p:spPr>
            <a:xfrm rot="-5400000">
              <a:off x="6451010" y="6845300"/>
              <a:ext cx="13716000" cy="0"/>
            </a:xfrm>
            <a:prstGeom prst="line">
              <a:avLst/>
            </a:prstGeom>
            <a:ln w="25400" cap="flat">
              <a:solidFill>
                <a:srgbClr val="14141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" name="AutoShape 5"/>
            <p:cNvSpPr/>
            <p:nvPr/>
          </p:nvSpPr>
          <p:spPr>
            <a:xfrm>
              <a:off x="0" y="4683430"/>
              <a:ext cx="13309010" cy="0"/>
            </a:xfrm>
            <a:prstGeom prst="line">
              <a:avLst/>
            </a:prstGeom>
            <a:ln w="25400" cap="flat">
              <a:solidFill>
                <a:srgbClr val="141414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028700" y="1009650"/>
            <a:ext cx="7587193" cy="1388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800"/>
              </a:lnSpc>
              <a:spcBef>
                <a:spcPct val="0"/>
              </a:spcBef>
            </a:pPr>
            <a:r>
              <a:rPr lang="en-US" sz="9000" u="none">
                <a:solidFill>
                  <a:srgbClr val="F1F1F1"/>
                </a:solidFill>
                <a:latin typeface="Caladea Bold"/>
              </a:rPr>
              <a:t>Methodology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973634" y="2038354"/>
            <a:ext cx="6499936" cy="3859502"/>
            <a:chOff x="0" y="-47625"/>
            <a:chExt cx="8361109" cy="3218707"/>
          </a:xfrm>
        </p:grpSpPr>
        <p:sp>
          <p:nvSpPr>
            <p:cNvPr id="10" name="TextBox 10"/>
            <p:cNvSpPr txBox="1"/>
            <p:nvPr/>
          </p:nvSpPr>
          <p:spPr>
            <a:xfrm>
              <a:off x="41271" y="293039"/>
              <a:ext cx="8319838" cy="3606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718"/>
                </a:lnSpc>
                <a:spcBef>
                  <a:spcPct val="0"/>
                </a:spcBef>
              </a:pPr>
              <a:endParaRPr lang="en-US" sz="2600" u="sng" dirty="0">
                <a:solidFill>
                  <a:srgbClr val="141414"/>
                </a:solidFill>
                <a:latin typeface="Public Sans"/>
                <a:hlinkClick r:id="rId2" tooltip="https://docs.google.com/spreadsheets/d/1DUF2isFWsqVSYhbaACYtbgcLi_YjDqpE3GLQIVgkKQg/edit#gid=69851113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7607034" cy="6180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dirty="0" smtClean="0">
                  <a:solidFill>
                    <a:srgbClr val="141414"/>
                  </a:solidFill>
                  <a:latin typeface="Public Sans Bold"/>
                </a:rPr>
                <a:t>Sampling Technique</a:t>
              </a:r>
              <a:endParaRPr lang="en-US" sz="3000" u="none" dirty="0">
                <a:solidFill>
                  <a:srgbClr val="141414"/>
                </a:solidFill>
                <a:latin typeface="Public Sans Bold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553049"/>
              <a:ext cx="7607034" cy="6180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dirty="0" smtClean="0">
                  <a:solidFill>
                    <a:srgbClr val="141414"/>
                  </a:solidFill>
                  <a:latin typeface="Public Sans Bold"/>
                </a:rPr>
                <a:t>Data Collection Method</a:t>
              </a:r>
              <a:endParaRPr lang="en-US" sz="3000" u="none" dirty="0">
                <a:solidFill>
                  <a:srgbClr val="141414"/>
                </a:solidFill>
                <a:latin typeface="Public Sans Bold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10981655" y="3635781"/>
            <a:ext cx="5705275" cy="46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900"/>
              </a:lnSpc>
              <a:spcBef>
                <a:spcPct val="0"/>
              </a:spcBef>
            </a:pPr>
            <a:r>
              <a:rPr lang="en-US" sz="3000" u="none" dirty="0" smtClean="0">
                <a:solidFill>
                  <a:srgbClr val="141414"/>
                </a:solidFill>
                <a:latin typeface="Public Sans Bold"/>
              </a:rPr>
              <a:t>Sample Size</a:t>
            </a:r>
            <a:endParaRPr lang="en-US" sz="3000" u="none" dirty="0">
              <a:solidFill>
                <a:srgbClr val="141414"/>
              </a:solidFill>
              <a:latin typeface="Public Sans Bold"/>
            </a:endParaRPr>
          </a:p>
        </p:txBody>
      </p:sp>
      <p:sp>
        <p:nvSpPr>
          <p:cNvPr id="16" name="TextBox 13"/>
          <p:cNvSpPr txBox="1"/>
          <p:nvPr/>
        </p:nvSpPr>
        <p:spPr>
          <a:xfrm>
            <a:off x="10973633" y="6638666"/>
            <a:ext cx="5913717" cy="1500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900"/>
              </a:lnSpc>
              <a:spcBef>
                <a:spcPct val="0"/>
              </a:spcBef>
            </a:pPr>
            <a:r>
              <a:rPr lang="en-US" sz="3000" u="none" dirty="0" smtClean="0">
                <a:solidFill>
                  <a:srgbClr val="141414"/>
                </a:solidFill>
                <a:latin typeface="Public Sans Bold"/>
              </a:rPr>
              <a:t>Data Analysis</a:t>
            </a:r>
          </a:p>
          <a:p>
            <a:pPr marL="0" lvl="0" indent="0">
              <a:lnSpc>
                <a:spcPts val="3900"/>
              </a:lnSpc>
              <a:spcBef>
                <a:spcPct val="0"/>
              </a:spcBef>
            </a:pPr>
            <a:endParaRPr lang="en-US" sz="3000" u="none" dirty="0" smtClean="0">
              <a:solidFill>
                <a:srgbClr val="141414"/>
              </a:solidFill>
              <a:latin typeface="Public Sans Bold"/>
            </a:endParaRPr>
          </a:p>
          <a:p>
            <a:pPr marL="0" lvl="0" indent="0">
              <a:lnSpc>
                <a:spcPts val="3900"/>
              </a:lnSpc>
              <a:spcBef>
                <a:spcPct val="0"/>
              </a:spcBef>
            </a:pPr>
            <a:endParaRPr lang="en-US" sz="3000" u="none" dirty="0">
              <a:solidFill>
                <a:srgbClr val="141414"/>
              </a:solidFill>
              <a:latin typeface="Public Sans Bold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98" y="4502342"/>
            <a:ext cx="8341234" cy="472145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882491" y="2480546"/>
            <a:ext cx="304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Convenience</a:t>
            </a:r>
            <a:endParaRPr lang="en-US" sz="2800" dirty="0"/>
          </a:p>
        </p:txBody>
      </p:sp>
      <p:sp>
        <p:nvSpPr>
          <p:cNvPr id="21" name="TextBox 20"/>
          <p:cNvSpPr txBox="1"/>
          <p:nvPr/>
        </p:nvSpPr>
        <p:spPr>
          <a:xfrm>
            <a:off x="10941549" y="4052523"/>
            <a:ext cx="304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2491" y="7043370"/>
            <a:ext cx="304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Personal Interview</a:t>
            </a:r>
            <a:endParaRPr lang="en-US" sz="2800" dirty="0"/>
          </a:p>
        </p:txBody>
      </p:sp>
      <p:sp>
        <p:nvSpPr>
          <p:cNvPr id="23" name="TextBox 22"/>
          <p:cNvSpPr txBox="1"/>
          <p:nvPr/>
        </p:nvSpPr>
        <p:spPr>
          <a:xfrm>
            <a:off x="10882491" y="5547946"/>
            <a:ext cx="304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Personal Interview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20445"/>
            <a:ext cx="18288000" cy="3403866"/>
          </a:xfrm>
          <a:prstGeom prst="rect">
            <a:avLst/>
          </a:prstGeom>
          <a:solidFill>
            <a:srgbClr val="F6B744"/>
          </a:solidFill>
        </p:spPr>
      </p:sp>
      <p:sp>
        <p:nvSpPr>
          <p:cNvPr id="4" name="TextBox 4"/>
          <p:cNvSpPr txBox="1"/>
          <p:nvPr/>
        </p:nvSpPr>
        <p:spPr>
          <a:xfrm>
            <a:off x="352665" y="563258"/>
            <a:ext cx="17582668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800"/>
              </a:lnSpc>
              <a:spcBef>
                <a:spcPct val="0"/>
              </a:spcBef>
            </a:pPr>
            <a:r>
              <a:rPr lang="en-US" sz="9600" dirty="0">
                <a:solidFill>
                  <a:srgbClr val="141414"/>
                </a:solidFill>
                <a:latin typeface="Caladea Bold"/>
              </a:rPr>
              <a:t>Results: </a:t>
            </a:r>
            <a:r>
              <a:rPr lang="en-US" sz="4400" dirty="0">
                <a:solidFill>
                  <a:srgbClr val="141414"/>
                </a:solidFill>
                <a:latin typeface="Caladea Bold"/>
              </a:rPr>
              <a:t>Effect on creating a supportive work </a:t>
            </a:r>
            <a:r>
              <a:rPr lang="en-US" sz="4400" dirty="0" smtClean="0">
                <a:solidFill>
                  <a:srgbClr val="141414"/>
                </a:solidFill>
                <a:latin typeface="Caladea Bold"/>
              </a:rPr>
              <a:t>environment</a:t>
            </a:r>
            <a:endParaRPr lang="en-US" sz="8800" dirty="0">
              <a:solidFill>
                <a:srgbClr val="141414"/>
              </a:solidFill>
              <a:latin typeface="Caladea Bold"/>
            </a:endParaRPr>
          </a:p>
        </p:txBody>
      </p:sp>
      <p:grpSp>
        <p:nvGrpSpPr>
          <p:cNvPr id="5" name="Group 3"/>
          <p:cNvGrpSpPr/>
          <p:nvPr/>
        </p:nvGrpSpPr>
        <p:grpSpPr>
          <a:xfrm>
            <a:off x="228600" y="4601873"/>
            <a:ext cx="5593515" cy="3737349"/>
            <a:chOff x="0" y="-19050"/>
            <a:chExt cx="10200859" cy="4983132"/>
          </a:xfrm>
        </p:grpSpPr>
        <p:sp>
          <p:nvSpPr>
            <p:cNvPr id="6" name="TextBox 4"/>
            <p:cNvSpPr txBox="1"/>
            <p:nvPr/>
          </p:nvSpPr>
          <p:spPr>
            <a:xfrm>
              <a:off x="322325" y="-19050"/>
              <a:ext cx="9878534" cy="18466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10800"/>
                </a:lnSpc>
                <a:spcBef>
                  <a:spcPct val="0"/>
                </a:spcBef>
              </a:pPr>
              <a:r>
                <a:rPr lang="en-US" sz="8000" dirty="0">
                  <a:solidFill>
                    <a:srgbClr val="141414"/>
                  </a:solidFill>
                  <a:latin typeface="Caladea Bold"/>
                </a:rPr>
                <a:t>1</a:t>
              </a:r>
              <a:r>
                <a:rPr lang="en-US" sz="8000" u="none" dirty="0" smtClean="0">
                  <a:solidFill>
                    <a:srgbClr val="141414"/>
                  </a:solidFill>
                  <a:latin typeface="Caladea Bold"/>
                </a:rPr>
                <a:t> </a:t>
              </a:r>
              <a:r>
                <a:rPr lang="en-US" sz="8000" u="none" dirty="0">
                  <a:solidFill>
                    <a:srgbClr val="141414"/>
                  </a:solidFill>
                  <a:latin typeface="Caladea Bold"/>
                </a:rPr>
                <a:t>out </a:t>
              </a:r>
              <a:r>
                <a:rPr lang="en-US" sz="8000" u="none" dirty="0" smtClean="0">
                  <a:solidFill>
                    <a:srgbClr val="141414"/>
                  </a:solidFill>
                  <a:latin typeface="Caladea Bold"/>
                </a:rPr>
                <a:t>6</a:t>
              </a:r>
              <a:endParaRPr lang="en-US" sz="8000" u="none" dirty="0">
                <a:solidFill>
                  <a:srgbClr val="141414"/>
                </a:solidFill>
                <a:latin typeface="Caladea Bold"/>
              </a:endParaRPr>
            </a:p>
          </p:txBody>
        </p:sp>
        <p:sp>
          <p:nvSpPr>
            <p:cNvPr id="7" name="TextBox 5"/>
            <p:cNvSpPr txBox="1"/>
            <p:nvPr/>
          </p:nvSpPr>
          <p:spPr>
            <a:xfrm>
              <a:off x="322325" y="1710682"/>
              <a:ext cx="8799556" cy="12848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3900"/>
                </a:lnSpc>
                <a:spcBef>
                  <a:spcPct val="0"/>
                </a:spcBef>
              </a:pPr>
              <a:r>
                <a:rPr lang="en-US" sz="2400" u="none" dirty="0" smtClean="0">
                  <a:solidFill>
                    <a:srgbClr val="141414"/>
                  </a:solidFill>
                  <a:latin typeface="Public Sans Bold"/>
                </a:rPr>
                <a:t>Said that it created an environment of mistrust</a:t>
              </a:r>
              <a:endParaRPr lang="en-US" sz="2400" u="none" dirty="0">
                <a:solidFill>
                  <a:srgbClr val="141414"/>
                </a:solidFill>
                <a:latin typeface="Public Sans Bold"/>
              </a:endParaRPr>
            </a:p>
          </p:txBody>
        </p:sp>
        <p:sp>
          <p:nvSpPr>
            <p:cNvPr id="8" name="TextBox 6"/>
            <p:cNvSpPr txBox="1"/>
            <p:nvPr/>
          </p:nvSpPr>
          <p:spPr>
            <a:xfrm>
              <a:off x="0" y="4387427"/>
              <a:ext cx="8799557" cy="576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718"/>
                </a:lnSpc>
              </a:pPr>
              <a:endParaRPr lang="en-US" sz="2600" dirty="0">
                <a:solidFill>
                  <a:srgbClr val="141414"/>
                </a:solidFill>
                <a:latin typeface="Public Sans"/>
                <a:hlinkClick r:id="rId2" tooltip="https://docs.google.com/spreadsheets/d/1DUF2isFWsqVSYhbaACYtbgcLi_YjDqpE3GLQIVgkKQg/edit#gid=69851113"/>
              </a:endParaRPr>
            </a:p>
          </p:txBody>
        </p:sp>
      </p:grpSp>
      <p:grpSp>
        <p:nvGrpSpPr>
          <p:cNvPr id="10" name="Group 3"/>
          <p:cNvGrpSpPr/>
          <p:nvPr/>
        </p:nvGrpSpPr>
        <p:grpSpPr>
          <a:xfrm>
            <a:off x="4420248" y="4601873"/>
            <a:ext cx="5486682" cy="3677203"/>
            <a:chOff x="-1206472" y="61145"/>
            <a:chExt cx="10006029" cy="4902937"/>
          </a:xfrm>
        </p:grpSpPr>
        <p:sp>
          <p:nvSpPr>
            <p:cNvPr id="11" name="TextBox 4"/>
            <p:cNvSpPr txBox="1"/>
            <p:nvPr/>
          </p:nvSpPr>
          <p:spPr>
            <a:xfrm>
              <a:off x="-1078978" y="61145"/>
              <a:ext cx="9878534" cy="17418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0800"/>
                </a:lnSpc>
                <a:spcBef>
                  <a:spcPct val="0"/>
                </a:spcBef>
              </a:pPr>
              <a:r>
                <a:rPr lang="en-US" sz="8000" dirty="0">
                  <a:solidFill>
                    <a:srgbClr val="141414"/>
                  </a:solidFill>
                  <a:latin typeface="Caladea Bold"/>
                </a:rPr>
                <a:t>2 out 6</a:t>
              </a:r>
            </a:p>
          </p:txBody>
        </p:sp>
        <p:sp>
          <p:nvSpPr>
            <p:cNvPr id="12" name="TextBox 5"/>
            <p:cNvSpPr txBox="1"/>
            <p:nvPr/>
          </p:nvSpPr>
          <p:spPr>
            <a:xfrm>
              <a:off x="-1206472" y="1793526"/>
              <a:ext cx="8799555" cy="26673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00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141414"/>
                  </a:solidFill>
                  <a:latin typeface="Public Sans Bold"/>
                </a:rPr>
                <a:t>Said that it improved accountability and performance of dishonest and unethical employees</a:t>
              </a:r>
            </a:p>
          </p:txBody>
        </p:sp>
        <p:sp>
          <p:nvSpPr>
            <p:cNvPr id="13" name="TextBox 6"/>
            <p:cNvSpPr txBox="1"/>
            <p:nvPr/>
          </p:nvSpPr>
          <p:spPr>
            <a:xfrm>
              <a:off x="0" y="4387427"/>
              <a:ext cx="8799557" cy="576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718"/>
                </a:lnSpc>
              </a:pPr>
              <a:endParaRPr lang="en-US" sz="2600" dirty="0">
                <a:solidFill>
                  <a:srgbClr val="141414"/>
                </a:solidFill>
                <a:latin typeface="Public Sans"/>
                <a:hlinkClick r:id="rId2" tooltip="https://docs.google.com/spreadsheets/d/1DUF2isFWsqVSYhbaACYtbgcLi_YjDqpE3GLQIVgkKQg/edit#gid=69851113"/>
              </a:endParaRPr>
            </a:p>
          </p:txBody>
        </p:sp>
      </p:grpSp>
      <p:grpSp>
        <p:nvGrpSpPr>
          <p:cNvPr id="15" name="Group 3"/>
          <p:cNvGrpSpPr/>
          <p:nvPr/>
        </p:nvGrpSpPr>
        <p:grpSpPr>
          <a:xfrm>
            <a:off x="9492029" y="4606551"/>
            <a:ext cx="5416772" cy="3737349"/>
            <a:chOff x="0" y="-19050"/>
            <a:chExt cx="9878534" cy="4983132"/>
          </a:xfrm>
        </p:grpSpPr>
        <p:sp>
          <p:nvSpPr>
            <p:cNvPr id="16" name="TextBox 4"/>
            <p:cNvSpPr txBox="1"/>
            <p:nvPr/>
          </p:nvSpPr>
          <p:spPr>
            <a:xfrm>
              <a:off x="0" y="-19050"/>
              <a:ext cx="9878534" cy="17418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 indent="0">
                <a:lnSpc>
                  <a:spcPts val="10800"/>
                </a:lnSpc>
                <a:spcBef>
                  <a:spcPct val="0"/>
                </a:spcBef>
              </a:pPr>
              <a:r>
                <a:rPr lang="en-US" sz="8000" dirty="0">
                  <a:solidFill>
                    <a:srgbClr val="141414"/>
                  </a:solidFill>
                  <a:latin typeface="Caladea Bold"/>
                </a:rPr>
                <a:t>1 out 6</a:t>
              </a:r>
            </a:p>
          </p:txBody>
        </p:sp>
        <p:sp>
          <p:nvSpPr>
            <p:cNvPr id="17" name="TextBox 5"/>
            <p:cNvSpPr txBox="1"/>
            <p:nvPr/>
          </p:nvSpPr>
          <p:spPr>
            <a:xfrm>
              <a:off x="0" y="1809663"/>
              <a:ext cx="8799556" cy="12612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 indent="0">
                <a:lnSpc>
                  <a:spcPts val="3900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141414"/>
                  </a:solidFill>
                  <a:latin typeface="Public Sans Bold"/>
                </a:rPr>
                <a:t>Makes solving a variety of problems easier</a:t>
              </a:r>
            </a:p>
          </p:txBody>
        </p:sp>
        <p:sp>
          <p:nvSpPr>
            <p:cNvPr id="18" name="TextBox 6"/>
            <p:cNvSpPr txBox="1"/>
            <p:nvPr/>
          </p:nvSpPr>
          <p:spPr>
            <a:xfrm>
              <a:off x="0" y="4387427"/>
              <a:ext cx="8799557" cy="576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718"/>
                </a:lnSpc>
              </a:pPr>
              <a:endParaRPr lang="en-US" sz="2600" dirty="0">
                <a:solidFill>
                  <a:srgbClr val="141414"/>
                </a:solidFill>
                <a:latin typeface="Public Sans"/>
                <a:hlinkClick r:id="rId2" tooltip="https://docs.google.com/spreadsheets/d/1DUF2isFWsqVSYhbaACYtbgcLi_YjDqpE3GLQIVgkKQg/edit#gid=69851113"/>
              </a:endParaRPr>
            </a:p>
          </p:txBody>
        </p:sp>
      </p:grpSp>
      <p:grpSp>
        <p:nvGrpSpPr>
          <p:cNvPr id="20" name="Group 3"/>
          <p:cNvGrpSpPr/>
          <p:nvPr/>
        </p:nvGrpSpPr>
        <p:grpSpPr>
          <a:xfrm>
            <a:off x="13724160" y="4586228"/>
            <a:ext cx="5416772" cy="3737349"/>
            <a:chOff x="0" y="-19050"/>
            <a:chExt cx="9878534" cy="4983132"/>
          </a:xfrm>
        </p:grpSpPr>
        <p:sp>
          <p:nvSpPr>
            <p:cNvPr id="21" name="TextBox 4"/>
            <p:cNvSpPr txBox="1"/>
            <p:nvPr/>
          </p:nvSpPr>
          <p:spPr>
            <a:xfrm>
              <a:off x="0" y="-19050"/>
              <a:ext cx="9878534" cy="18466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 indent="0">
                <a:lnSpc>
                  <a:spcPts val="10800"/>
                </a:lnSpc>
                <a:spcBef>
                  <a:spcPct val="0"/>
                </a:spcBef>
              </a:pPr>
              <a:r>
                <a:rPr lang="en-US" sz="8000" dirty="0">
                  <a:solidFill>
                    <a:srgbClr val="141414"/>
                  </a:solidFill>
                  <a:latin typeface="Caladea Bold"/>
                </a:rPr>
                <a:t>5</a:t>
              </a:r>
              <a:r>
                <a:rPr lang="en-US" sz="8000" dirty="0" smtClean="0">
                  <a:solidFill>
                    <a:srgbClr val="141414"/>
                  </a:solidFill>
                  <a:latin typeface="Caladea Bold"/>
                </a:rPr>
                <a:t> </a:t>
              </a:r>
              <a:r>
                <a:rPr lang="en-US" sz="8000" dirty="0">
                  <a:solidFill>
                    <a:srgbClr val="141414"/>
                  </a:solidFill>
                  <a:latin typeface="Caladea Bold"/>
                </a:rPr>
                <a:t>out 6</a:t>
              </a:r>
            </a:p>
          </p:txBody>
        </p:sp>
        <p:sp>
          <p:nvSpPr>
            <p:cNvPr id="22" name="TextBox 5"/>
            <p:cNvSpPr txBox="1"/>
            <p:nvPr/>
          </p:nvSpPr>
          <p:spPr>
            <a:xfrm>
              <a:off x="0" y="1809663"/>
              <a:ext cx="8799556" cy="13336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 indent="0">
                <a:lnSpc>
                  <a:spcPts val="3900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141414"/>
                  </a:solidFill>
                  <a:latin typeface="Public Sans Bold"/>
                </a:rPr>
                <a:t>Makes </a:t>
              </a:r>
              <a:r>
                <a:rPr lang="en-US" sz="2400" dirty="0" smtClean="0">
                  <a:solidFill>
                    <a:srgbClr val="141414"/>
                  </a:solidFill>
                  <a:latin typeface="Public Sans Bold"/>
                </a:rPr>
                <a:t>people feel secured and at ease in the office</a:t>
              </a:r>
              <a:endParaRPr lang="en-US" sz="2400" dirty="0">
                <a:solidFill>
                  <a:srgbClr val="141414"/>
                </a:solidFill>
                <a:latin typeface="Public Sans Bold"/>
              </a:endParaRPr>
            </a:p>
          </p:txBody>
        </p:sp>
        <p:sp>
          <p:nvSpPr>
            <p:cNvPr id="23" name="TextBox 6"/>
            <p:cNvSpPr txBox="1"/>
            <p:nvPr/>
          </p:nvSpPr>
          <p:spPr>
            <a:xfrm>
              <a:off x="0" y="4387427"/>
              <a:ext cx="8799557" cy="576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718"/>
                </a:lnSpc>
              </a:pPr>
              <a:endParaRPr lang="en-US" sz="2600" dirty="0">
                <a:solidFill>
                  <a:srgbClr val="141414"/>
                </a:solidFill>
                <a:latin typeface="Public Sans"/>
                <a:hlinkClick r:id="rId2" tooltip="https://docs.google.com/spreadsheets/d/1DUF2isFWsqVSYhbaACYtbgcLi_YjDqpE3GLQIVgkKQg/edit#gid=69851113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0"/>
            <a:ext cx="18288000" cy="3429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2"/>
          <p:cNvSpPr txBox="1"/>
          <p:nvPr/>
        </p:nvSpPr>
        <p:spPr>
          <a:xfrm>
            <a:off x="1028700" y="1117111"/>
            <a:ext cx="15936248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10800"/>
              </a:lnSpc>
              <a:spcBef>
                <a:spcPct val="0"/>
              </a:spcBef>
            </a:pPr>
            <a:r>
              <a:rPr lang="en-US" sz="9000" u="none" dirty="0" smtClean="0">
                <a:solidFill>
                  <a:srgbClr val="141414"/>
                </a:solidFill>
                <a:latin typeface="Caladea Bold"/>
              </a:rPr>
              <a:t>Results: </a:t>
            </a:r>
            <a:r>
              <a:rPr lang="en-US" sz="4800" u="none" dirty="0" smtClean="0">
                <a:solidFill>
                  <a:srgbClr val="141414"/>
                </a:solidFill>
                <a:latin typeface="Caladea Bold"/>
              </a:rPr>
              <a:t>Effect on focus and work involvement</a:t>
            </a:r>
            <a:endParaRPr lang="en-US" sz="4800" u="none" dirty="0">
              <a:solidFill>
                <a:srgbClr val="141414"/>
              </a:solidFill>
              <a:latin typeface="Caladea Bold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136428" y="4462989"/>
            <a:ext cx="5416772" cy="3737349"/>
            <a:chOff x="0" y="-19050"/>
            <a:chExt cx="9878534" cy="4983132"/>
          </a:xfrm>
        </p:grpSpPr>
        <p:sp>
          <p:nvSpPr>
            <p:cNvPr id="4" name="TextBox 4"/>
            <p:cNvSpPr txBox="1"/>
            <p:nvPr/>
          </p:nvSpPr>
          <p:spPr>
            <a:xfrm>
              <a:off x="0" y="-19050"/>
              <a:ext cx="9878534" cy="184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10800"/>
                </a:lnSpc>
                <a:spcBef>
                  <a:spcPct val="0"/>
                </a:spcBef>
              </a:pPr>
              <a:r>
                <a:rPr lang="en-US" sz="9000" u="none" dirty="0">
                  <a:solidFill>
                    <a:srgbClr val="141414"/>
                  </a:solidFill>
                  <a:latin typeface="Caladea Bold"/>
                </a:rPr>
                <a:t>2 out </a:t>
              </a:r>
              <a:r>
                <a:rPr lang="en-US" sz="9000" u="none" dirty="0" smtClean="0">
                  <a:solidFill>
                    <a:srgbClr val="141414"/>
                  </a:solidFill>
                  <a:latin typeface="Caladea Bold"/>
                </a:rPr>
                <a:t>6</a:t>
              </a:r>
              <a:endParaRPr lang="en-US" sz="9000" u="none" dirty="0">
                <a:solidFill>
                  <a:srgbClr val="141414"/>
                </a:solidFill>
                <a:latin typeface="Caladea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227651"/>
              <a:ext cx="8799557" cy="13336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dirty="0" smtClean="0">
                  <a:solidFill>
                    <a:srgbClr val="141414"/>
                  </a:solidFill>
                  <a:latin typeface="Public Sans Bold"/>
                </a:rPr>
                <a:t>Said that they cannot focus well on their work due to feeling unsettled</a:t>
              </a:r>
              <a:endParaRPr lang="en-US" sz="3000" u="none" dirty="0">
                <a:solidFill>
                  <a:srgbClr val="141414"/>
                </a:solidFill>
                <a:latin typeface="Public Sans Bold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387427"/>
              <a:ext cx="8799557" cy="576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718"/>
                </a:lnSpc>
              </a:pPr>
              <a:endParaRPr lang="en-US" sz="2600" dirty="0">
                <a:solidFill>
                  <a:srgbClr val="141414"/>
                </a:solidFill>
                <a:latin typeface="Public Sans"/>
                <a:hlinkClick r:id="rId2" tooltip="https://docs.google.com/spreadsheets/d/1DUF2isFWsqVSYhbaACYtbgcLi_YjDqpE3GLQIVgkKQg/edit#gid=69851113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260149" y="4448953"/>
            <a:ext cx="4038600" cy="3737348"/>
            <a:chOff x="0" y="-19050"/>
            <a:chExt cx="9878534" cy="4983131"/>
          </a:xfrm>
        </p:grpSpPr>
        <p:sp>
          <p:nvSpPr>
            <p:cNvPr id="9" name="TextBox 9"/>
            <p:cNvSpPr txBox="1"/>
            <p:nvPr/>
          </p:nvSpPr>
          <p:spPr>
            <a:xfrm>
              <a:off x="0" y="-19050"/>
              <a:ext cx="9878534" cy="184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10800"/>
                </a:lnSpc>
                <a:spcBef>
                  <a:spcPct val="0"/>
                </a:spcBef>
              </a:pPr>
              <a:r>
                <a:rPr lang="en-US" sz="9000" dirty="0" smtClean="0">
                  <a:solidFill>
                    <a:srgbClr val="141414"/>
                  </a:solidFill>
                  <a:latin typeface="Caladea Bold"/>
                </a:rPr>
                <a:t>1 out 6</a:t>
              </a:r>
              <a:endParaRPr lang="en-US" sz="9000" u="none" dirty="0">
                <a:solidFill>
                  <a:srgbClr val="141414"/>
                </a:solidFill>
                <a:latin typeface="Caladea Bold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227651"/>
              <a:ext cx="8799557" cy="6180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dirty="0" smtClean="0">
                  <a:solidFill>
                    <a:srgbClr val="141414"/>
                  </a:solidFill>
                  <a:latin typeface="Public Sans Bold"/>
                </a:rPr>
                <a:t>Said it had no impact on them</a:t>
              </a:r>
              <a:endParaRPr lang="en-US" sz="3000" u="none" dirty="0">
                <a:solidFill>
                  <a:srgbClr val="141414"/>
                </a:solidFill>
                <a:latin typeface="Public Sans Bold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4387426"/>
              <a:ext cx="8799557" cy="576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718"/>
                </a:lnSpc>
              </a:pPr>
              <a:endParaRPr lang="en-US" sz="2600" dirty="0">
                <a:solidFill>
                  <a:srgbClr val="141414"/>
                </a:solidFill>
                <a:latin typeface="Public Sans"/>
                <a:hlinkClick r:id="rId2" tooltip="https://docs.google.com/spreadsheets/d/1DUF2isFWsqVSYhbaACYtbgcLi_YjDqpE3GLQIVgkKQg/edit#gid=69851113"/>
              </a:endParaRPr>
            </a:p>
          </p:txBody>
        </p:sp>
      </p:grpSp>
      <p:grpSp>
        <p:nvGrpSpPr>
          <p:cNvPr id="14" name="Group 8"/>
          <p:cNvGrpSpPr/>
          <p:nvPr/>
        </p:nvGrpSpPr>
        <p:grpSpPr>
          <a:xfrm>
            <a:off x="12420600" y="4462989"/>
            <a:ext cx="4038600" cy="4185711"/>
            <a:chOff x="0" y="-19050"/>
            <a:chExt cx="9878534" cy="5580947"/>
          </a:xfrm>
        </p:grpSpPr>
        <p:sp>
          <p:nvSpPr>
            <p:cNvPr id="15" name="TextBox 9"/>
            <p:cNvSpPr txBox="1"/>
            <p:nvPr/>
          </p:nvSpPr>
          <p:spPr>
            <a:xfrm>
              <a:off x="0" y="-19050"/>
              <a:ext cx="9878534" cy="184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10800"/>
                </a:lnSpc>
                <a:spcBef>
                  <a:spcPct val="0"/>
                </a:spcBef>
              </a:pPr>
              <a:r>
                <a:rPr lang="en-US" sz="9000" dirty="0">
                  <a:solidFill>
                    <a:srgbClr val="141414"/>
                  </a:solidFill>
                  <a:latin typeface="Caladea Bold"/>
                </a:rPr>
                <a:t>3</a:t>
              </a:r>
              <a:r>
                <a:rPr lang="en-US" sz="9000" dirty="0" smtClean="0">
                  <a:solidFill>
                    <a:srgbClr val="141414"/>
                  </a:solidFill>
                  <a:latin typeface="Caladea Bold"/>
                </a:rPr>
                <a:t> out 6</a:t>
              </a:r>
              <a:endParaRPr lang="en-US" sz="9000" u="none" dirty="0">
                <a:solidFill>
                  <a:srgbClr val="141414"/>
                </a:solidFill>
                <a:latin typeface="Caladea Bold"/>
              </a:endParaRPr>
            </a:p>
          </p:txBody>
        </p:sp>
        <p:sp>
          <p:nvSpPr>
            <p:cNvPr id="16" name="TextBox 10"/>
            <p:cNvSpPr txBox="1"/>
            <p:nvPr/>
          </p:nvSpPr>
          <p:spPr>
            <a:xfrm>
              <a:off x="0" y="2227651"/>
              <a:ext cx="8799556" cy="33342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dirty="0" smtClean="0">
                  <a:solidFill>
                    <a:srgbClr val="141414"/>
                  </a:solidFill>
                  <a:latin typeface="Public Sans Bold"/>
                </a:rPr>
                <a:t>Said it made them more productive due to feeling secured and monitored</a:t>
              </a:r>
              <a:endParaRPr lang="en-US" sz="3000" u="none" dirty="0">
                <a:solidFill>
                  <a:srgbClr val="141414"/>
                </a:solidFill>
                <a:latin typeface="Public Sans Bold"/>
              </a:endParaRPr>
            </a:p>
          </p:txBody>
        </p:sp>
        <p:sp>
          <p:nvSpPr>
            <p:cNvPr id="17" name="TextBox 11"/>
            <p:cNvSpPr txBox="1"/>
            <p:nvPr/>
          </p:nvSpPr>
          <p:spPr>
            <a:xfrm>
              <a:off x="0" y="4368712"/>
              <a:ext cx="8799556" cy="576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718"/>
                </a:lnSpc>
              </a:pPr>
              <a:endParaRPr lang="en-US" sz="2600" dirty="0">
                <a:solidFill>
                  <a:srgbClr val="141414"/>
                </a:solidFill>
                <a:latin typeface="Public Sans"/>
                <a:hlinkClick r:id="rId2" tooltip="https://docs.google.com/spreadsheets/d/1DUF2isFWsqVSYhbaACYtbgcLi_YjDqpE3GLQIVgkKQg/edit#gid=69851113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0"/>
            <a:ext cx="18288000" cy="3429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2"/>
          <p:cNvSpPr txBox="1"/>
          <p:nvPr/>
        </p:nvSpPr>
        <p:spPr>
          <a:xfrm>
            <a:off x="1028700" y="1117111"/>
            <a:ext cx="1703070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10800"/>
              </a:lnSpc>
              <a:spcBef>
                <a:spcPct val="0"/>
              </a:spcBef>
            </a:pPr>
            <a:r>
              <a:rPr lang="en-US" sz="9000" u="none" dirty="0" smtClean="0">
                <a:solidFill>
                  <a:srgbClr val="141414"/>
                </a:solidFill>
                <a:latin typeface="Caladea Bold"/>
              </a:rPr>
              <a:t>Results: </a:t>
            </a:r>
            <a:r>
              <a:rPr lang="en-US" sz="4800" u="none" dirty="0" smtClean="0">
                <a:solidFill>
                  <a:srgbClr val="141414"/>
                </a:solidFill>
                <a:latin typeface="Caladea Bold"/>
              </a:rPr>
              <a:t>Effect on one’s feelings towards the company</a:t>
            </a:r>
            <a:endParaRPr lang="en-US" sz="4800" u="none" dirty="0">
              <a:solidFill>
                <a:srgbClr val="141414"/>
              </a:solidFill>
              <a:latin typeface="Caladea Bold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028700" y="4282293"/>
            <a:ext cx="5416772" cy="3737349"/>
            <a:chOff x="0" y="-19050"/>
            <a:chExt cx="9878534" cy="4983132"/>
          </a:xfrm>
        </p:grpSpPr>
        <p:sp>
          <p:nvSpPr>
            <p:cNvPr id="4" name="TextBox 4"/>
            <p:cNvSpPr txBox="1"/>
            <p:nvPr/>
          </p:nvSpPr>
          <p:spPr>
            <a:xfrm>
              <a:off x="0" y="-19050"/>
              <a:ext cx="9878534" cy="184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10800"/>
                </a:lnSpc>
                <a:spcBef>
                  <a:spcPct val="0"/>
                </a:spcBef>
              </a:pPr>
              <a:r>
                <a:rPr lang="en-US" sz="9000" dirty="0">
                  <a:solidFill>
                    <a:srgbClr val="141414"/>
                  </a:solidFill>
                  <a:latin typeface="Caladea Bold"/>
                </a:rPr>
                <a:t>1</a:t>
              </a:r>
              <a:r>
                <a:rPr lang="en-US" sz="9000" u="none" dirty="0" smtClean="0">
                  <a:solidFill>
                    <a:srgbClr val="141414"/>
                  </a:solidFill>
                  <a:latin typeface="Caladea Bold"/>
                </a:rPr>
                <a:t> </a:t>
              </a:r>
              <a:r>
                <a:rPr lang="en-US" sz="9000" u="none" dirty="0">
                  <a:solidFill>
                    <a:srgbClr val="141414"/>
                  </a:solidFill>
                  <a:latin typeface="Caladea Bold"/>
                </a:rPr>
                <a:t>out </a:t>
              </a:r>
              <a:r>
                <a:rPr lang="en-US" sz="9000" u="none" dirty="0" smtClean="0">
                  <a:solidFill>
                    <a:srgbClr val="141414"/>
                  </a:solidFill>
                  <a:latin typeface="Caladea Bold"/>
                </a:rPr>
                <a:t>6</a:t>
              </a:r>
              <a:endParaRPr lang="en-US" sz="9000" u="none" dirty="0">
                <a:solidFill>
                  <a:srgbClr val="141414"/>
                </a:solidFill>
                <a:latin typeface="Caladea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227651"/>
              <a:ext cx="8799556" cy="20005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dirty="0" smtClean="0">
                  <a:solidFill>
                    <a:srgbClr val="141414"/>
                  </a:solidFill>
                  <a:latin typeface="Public Sans Bold"/>
                </a:rPr>
                <a:t>Said that they felt the company was violating their privacy</a:t>
              </a:r>
              <a:endParaRPr lang="en-US" sz="3000" u="none" dirty="0">
                <a:solidFill>
                  <a:srgbClr val="141414"/>
                </a:solidFill>
                <a:latin typeface="Public Sans Bold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387427"/>
              <a:ext cx="8799557" cy="576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718"/>
                </a:lnSpc>
              </a:pPr>
              <a:endParaRPr lang="en-US" sz="2600" dirty="0">
                <a:solidFill>
                  <a:srgbClr val="141414"/>
                </a:solidFill>
                <a:latin typeface="Public Sans"/>
                <a:hlinkClick r:id="rId2" tooltip="https://docs.google.com/spreadsheets/d/1DUF2isFWsqVSYhbaACYtbgcLi_YjDqpE3GLQIVgkKQg/edit#gid=69851113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124700" y="4198522"/>
            <a:ext cx="4038600" cy="3737348"/>
            <a:chOff x="0" y="-19050"/>
            <a:chExt cx="9878534" cy="4983131"/>
          </a:xfrm>
        </p:grpSpPr>
        <p:sp>
          <p:nvSpPr>
            <p:cNvPr id="9" name="TextBox 9"/>
            <p:cNvSpPr txBox="1"/>
            <p:nvPr/>
          </p:nvSpPr>
          <p:spPr>
            <a:xfrm>
              <a:off x="0" y="-19050"/>
              <a:ext cx="9878534" cy="184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10800"/>
                </a:lnSpc>
                <a:spcBef>
                  <a:spcPct val="0"/>
                </a:spcBef>
              </a:pPr>
              <a:r>
                <a:rPr lang="en-US" sz="9000" dirty="0">
                  <a:solidFill>
                    <a:srgbClr val="141414"/>
                  </a:solidFill>
                  <a:latin typeface="Caladea Bold"/>
                </a:rPr>
                <a:t>3</a:t>
              </a:r>
              <a:r>
                <a:rPr lang="en-US" sz="9000" dirty="0" smtClean="0">
                  <a:solidFill>
                    <a:srgbClr val="141414"/>
                  </a:solidFill>
                  <a:latin typeface="Caladea Bold"/>
                </a:rPr>
                <a:t> out 6</a:t>
              </a:r>
              <a:endParaRPr lang="en-US" sz="9000" u="none" dirty="0">
                <a:solidFill>
                  <a:srgbClr val="141414"/>
                </a:solidFill>
                <a:latin typeface="Caladea Bold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227651"/>
              <a:ext cx="8799556" cy="20005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dirty="0" smtClean="0">
                  <a:solidFill>
                    <a:srgbClr val="141414"/>
                  </a:solidFill>
                  <a:latin typeface="Public Sans Bold"/>
                </a:rPr>
                <a:t>Said it made the company appear good and modern</a:t>
              </a:r>
              <a:endParaRPr lang="en-US" sz="3000" u="none" dirty="0">
                <a:solidFill>
                  <a:srgbClr val="141414"/>
                </a:solidFill>
                <a:latin typeface="Public Sans Bold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4387426"/>
              <a:ext cx="8799557" cy="576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718"/>
                </a:lnSpc>
              </a:pPr>
              <a:endParaRPr lang="en-US" sz="2600" dirty="0">
                <a:solidFill>
                  <a:srgbClr val="141414"/>
                </a:solidFill>
                <a:latin typeface="Public Sans"/>
                <a:hlinkClick r:id="rId2" tooltip="https://docs.google.com/spreadsheets/d/1DUF2isFWsqVSYhbaACYtbgcLi_YjDqpE3GLQIVgkKQg/edit#gid=69851113"/>
              </a:endParaRPr>
            </a:p>
          </p:txBody>
        </p:sp>
      </p:grpSp>
      <p:grpSp>
        <p:nvGrpSpPr>
          <p:cNvPr id="14" name="Group 8"/>
          <p:cNvGrpSpPr/>
          <p:nvPr/>
        </p:nvGrpSpPr>
        <p:grpSpPr>
          <a:xfrm>
            <a:off x="12368742" y="4198522"/>
            <a:ext cx="4038600" cy="4685847"/>
            <a:chOff x="0" y="-19050"/>
            <a:chExt cx="9878534" cy="6247795"/>
          </a:xfrm>
        </p:grpSpPr>
        <p:sp>
          <p:nvSpPr>
            <p:cNvPr id="15" name="TextBox 9"/>
            <p:cNvSpPr txBox="1"/>
            <p:nvPr/>
          </p:nvSpPr>
          <p:spPr>
            <a:xfrm>
              <a:off x="0" y="-19050"/>
              <a:ext cx="9878534" cy="184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10800"/>
                </a:lnSpc>
                <a:spcBef>
                  <a:spcPct val="0"/>
                </a:spcBef>
              </a:pPr>
              <a:r>
                <a:rPr lang="en-US" sz="9000" dirty="0">
                  <a:solidFill>
                    <a:srgbClr val="141414"/>
                  </a:solidFill>
                  <a:latin typeface="Caladea Bold"/>
                </a:rPr>
                <a:t>3</a:t>
              </a:r>
              <a:r>
                <a:rPr lang="en-US" sz="9000" dirty="0" smtClean="0">
                  <a:solidFill>
                    <a:srgbClr val="141414"/>
                  </a:solidFill>
                  <a:latin typeface="Caladea Bold"/>
                </a:rPr>
                <a:t> out 6</a:t>
              </a:r>
              <a:endParaRPr lang="en-US" sz="9000" u="none" dirty="0">
                <a:solidFill>
                  <a:srgbClr val="141414"/>
                </a:solidFill>
                <a:latin typeface="Caladea Bold"/>
              </a:endParaRPr>
            </a:p>
          </p:txBody>
        </p:sp>
        <p:sp>
          <p:nvSpPr>
            <p:cNvPr id="16" name="TextBox 10"/>
            <p:cNvSpPr txBox="1"/>
            <p:nvPr/>
          </p:nvSpPr>
          <p:spPr>
            <a:xfrm>
              <a:off x="0" y="2227651"/>
              <a:ext cx="8799556" cy="40010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dirty="0" smtClean="0">
                  <a:solidFill>
                    <a:srgbClr val="141414"/>
                  </a:solidFill>
                  <a:latin typeface="Public Sans Bold"/>
                </a:rPr>
                <a:t>Said it made them feel values as the company was spending on their protection and security</a:t>
              </a:r>
              <a:endParaRPr lang="en-US" sz="3000" u="none" dirty="0">
                <a:solidFill>
                  <a:srgbClr val="141414"/>
                </a:solidFill>
                <a:latin typeface="Public Sans Bold"/>
              </a:endParaRPr>
            </a:p>
          </p:txBody>
        </p:sp>
        <p:sp>
          <p:nvSpPr>
            <p:cNvPr id="17" name="TextBox 11"/>
            <p:cNvSpPr txBox="1"/>
            <p:nvPr/>
          </p:nvSpPr>
          <p:spPr>
            <a:xfrm>
              <a:off x="0" y="4368712"/>
              <a:ext cx="8799556" cy="576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718"/>
                </a:lnSpc>
              </a:pPr>
              <a:endParaRPr lang="en-US" sz="2600" dirty="0">
                <a:solidFill>
                  <a:srgbClr val="141414"/>
                </a:solidFill>
                <a:latin typeface="Public Sans"/>
                <a:hlinkClick r:id="rId2" tooltip="https://docs.google.com/spreadsheets/d/1DUF2isFWsqVSYhbaACYtbgcLi_YjDqpE3GLQIVgkKQg/edit#gid=69851113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7867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0053" y="2157485"/>
            <a:ext cx="18288000" cy="6724604"/>
          </a:xfrm>
          <a:prstGeom prst="rect">
            <a:avLst/>
          </a:prstGeom>
          <a:solidFill>
            <a:srgbClr val="F6B744"/>
          </a:solidFill>
        </p:spPr>
      </p:sp>
      <p:sp>
        <p:nvSpPr>
          <p:cNvPr id="3" name="AutoShape 3"/>
          <p:cNvSpPr/>
          <p:nvPr/>
        </p:nvSpPr>
        <p:spPr>
          <a:xfrm>
            <a:off x="0" y="2180592"/>
            <a:ext cx="18288000" cy="0"/>
          </a:xfrm>
          <a:prstGeom prst="line">
            <a:avLst/>
          </a:prstGeom>
          <a:ln w="19050" cap="flat">
            <a:solidFill>
              <a:srgbClr val="14141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0" y="10020300"/>
            <a:ext cx="18288000" cy="0"/>
          </a:xfrm>
          <a:prstGeom prst="line">
            <a:avLst/>
          </a:prstGeom>
          <a:ln w="19050" cap="flat">
            <a:solidFill>
              <a:srgbClr val="14141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609600" y="213270"/>
            <a:ext cx="16230600" cy="1390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10800"/>
              </a:lnSpc>
              <a:spcBef>
                <a:spcPct val="0"/>
              </a:spcBef>
            </a:pPr>
            <a:r>
              <a:rPr lang="en-US" sz="9000" u="none" dirty="0" smtClean="0">
                <a:solidFill>
                  <a:srgbClr val="141414"/>
                </a:solidFill>
                <a:latin typeface="Caladea Bold"/>
              </a:rPr>
              <a:t>Summary</a:t>
            </a:r>
            <a:endParaRPr lang="en-US" sz="9000" u="none" dirty="0">
              <a:solidFill>
                <a:srgbClr val="141414"/>
              </a:solidFill>
              <a:latin typeface="Caladea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711199" y="4132686"/>
            <a:ext cx="4881704" cy="2500685"/>
            <a:chOff x="0" y="-47625"/>
            <a:chExt cx="6508939" cy="3334247"/>
          </a:xfrm>
        </p:grpSpPr>
        <p:sp>
          <p:nvSpPr>
            <p:cNvPr id="7" name="TextBox 7"/>
            <p:cNvSpPr txBox="1"/>
            <p:nvPr/>
          </p:nvSpPr>
          <p:spPr>
            <a:xfrm>
              <a:off x="0" y="1737895"/>
              <a:ext cx="6508939" cy="576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718"/>
                </a:lnSpc>
              </a:pPr>
              <a:endParaRPr lang="en-US" sz="2600" dirty="0">
                <a:solidFill>
                  <a:srgbClr val="141414"/>
                </a:solidFill>
                <a:latin typeface="Public Sans"/>
                <a:hlinkClick r:id="rId2" tooltip="https://docs.google.com/spreadsheets/d/1DUF2isFWsqVSYhbaACYtbgcLi_YjDqpE3GLQIVgkKQg/edit#gid=69851113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6508939" cy="33342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7200" lvl="0" indent="-457200">
                <a:lnSpc>
                  <a:spcPts val="3900"/>
                </a:lnSpc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lang="en-US" sz="3000" dirty="0" smtClean="0">
                  <a:solidFill>
                    <a:srgbClr val="141414"/>
                  </a:solidFill>
                  <a:latin typeface="Public Sans Bold"/>
                </a:rPr>
                <a:t>Responses indicate that CCTV surveillance had a mostly positive effect on employee engagement</a:t>
              </a:r>
              <a:endParaRPr lang="en-US" sz="3000" u="none" dirty="0">
                <a:solidFill>
                  <a:srgbClr val="141414"/>
                </a:solidFill>
                <a:latin typeface="Public Sans Bold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284048" y="2408380"/>
            <a:ext cx="4881704" cy="7502054"/>
            <a:chOff x="0" y="-47625"/>
            <a:chExt cx="6508939" cy="10002736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737895"/>
              <a:ext cx="6508939" cy="576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718"/>
                </a:lnSpc>
              </a:pPr>
              <a:endParaRPr lang="en-US" sz="2600" dirty="0">
                <a:solidFill>
                  <a:srgbClr val="141414"/>
                </a:solidFill>
                <a:latin typeface="Public Sans"/>
                <a:hlinkClick r:id="rId2" tooltip="https://docs.google.com/spreadsheets/d/1DUF2isFWsqVSYhbaACYtbgcLi_YjDqpE3GLQIVgkKQg/edit#gid=69851113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6508939" cy="100027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7200" lvl="0" indent="-457200">
                <a:lnSpc>
                  <a:spcPts val="3900"/>
                </a:lnSpc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lang="en-US" sz="3000" u="none" dirty="0" smtClean="0">
                  <a:solidFill>
                    <a:srgbClr val="141414"/>
                  </a:solidFill>
                  <a:latin typeface="Public Sans Bold"/>
                </a:rPr>
                <a:t>Participants felt that CCTV made them feel secured, relaxed and valued.</a:t>
              </a:r>
            </a:p>
            <a:p>
              <a:pPr marL="457200" lvl="0" indent="-457200">
                <a:lnSpc>
                  <a:spcPts val="3900"/>
                </a:lnSpc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endParaRPr lang="en-US" sz="3000" dirty="0">
                <a:solidFill>
                  <a:srgbClr val="141414"/>
                </a:solidFill>
                <a:latin typeface="Public Sans Bold"/>
              </a:endParaRPr>
            </a:p>
            <a:p>
              <a:pPr marL="457200" lvl="0" indent="-457200">
                <a:lnSpc>
                  <a:spcPts val="3900"/>
                </a:lnSpc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lang="en-US" sz="3000" dirty="0" smtClean="0">
                  <a:solidFill>
                    <a:srgbClr val="141414"/>
                  </a:solidFill>
                  <a:latin typeface="Public Sans Bold"/>
                </a:rPr>
                <a:t>Helped to solve a lot of issues.</a:t>
              </a:r>
            </a:p>
            <a:p>
              <a:pPr marL="457200" lvl="0" indent="-457200">
                <a:lnSpc>
                  <a:spcPts val="3900"/>
                </a:lnSpc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endParaRPr lang="en-US" sz="3000" u="none" dirty="0">
                <a:solidFill>
                  <a:srgbClr val="141414"/>
                </a:solidFill>
                <a:latin typeface="Public Sans Bold"/>
              </a:endParaRPr>
            </a:p>
            <a:p>
              <a:pPr marL="457200" lvl="0" indent="-457200">
                <a:lnSpc>
                  <a:spcPts val="3900"/>
                </a:lnSpc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lang="en-US" sz="3000" dirty="0" smtClean="0">
                  <a:solidFill>
                    <a:srgbClr val="141414"/>
                  </a:solidFill>
                  <a:latin typeface="Public Sans Bold"/>
                </a:rPr>
                <a:t>Showed that the company was up to date and capable of managing a large workforce</a:t>
              </a:r>
              <a:endParaRPr lang="en-US" sz="3000" u="none" dirty="0" smtClean="0">
                <a:solidFill>
                  <a:srgbClr val="141414"/>
                </a:solidFill>
                <a:latin typeface="Public Sans Bold"/>
              </a:endParaRPr>
            </a:p>
            <a:p>
              <a:pPr marL="457200" lvl="0" indent="-457200">
                <a:lnSpc>
                  <a:spcPts val="3900"/>
                </a:lnSpc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endParaRPr lang="en-US" sz="3000" dirty="0">
                <a:solidFill>
                  <a:srgbClr val="141414"/>
                </a:solidFill>
                <a:latin typeface="Public Sans Bold"/>
              </a:endParaRPr>
            </a:p>
            <a:p>
              <a:pPr marL="457200" lvl="0" indent="-457200">
                <a:lnSpc>
                  <a:spcPts val="3900"/>
                </a:lnSpc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endParaRPr lang="en-US" sz="3000" u="none" dirty="0">
                <a:solidFill>
                  <a:srgbClr val="141414"/>
                </a:solidFill>
                <a:latin typeface="Public Sans Bold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690445" y="3213519"/>
            <a:ext cx="4881704" cy="4501232"/>
            <a:chOff x="0" y="-47625"/>
            <a:chExt cx="6508939" cy="6001642"/>
          </a:xfrm>
        </p:grpSpPr>
        <p:sp>
          <p:nvSpPr>
            <p:cNvPr id="13" name="TextBox 13"/>
            <p:cNvSpPr txBox="1"/>
            <p:nvPr/>
          </p:nvSpPr>
          <p:spPr>
            <a:xfrm>
              <a:off x="0" y="1737895"/>
              <a:ext cx="6508939" cy="576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718"/>
                </a:lnSpc>
              </a:pPr>
              <a:endParaRPr lang="en-US" sz="2600" dirty="0">
                <a:solidFill>
                  <a:srgbClr val="141414"/>
                </a:solidFill>
                <a:latin typeface="Public Sans"/>
                <a:hlinkClick r:id="rId2" tooltip="https://docs.google.com/spreadsheets/d/1DUF2isFWsqVSYhbaACYtbgcLi_YjDqpE3GLQIVgkKQg/edit#gid=69851113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6508939" cy="60016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7200" lvl="0" indent="-457200">
                <a:lnSpc>
                  <a:spcPts val="3900"/>
                </a:lnSpc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lang="en-US" sz="3000" u="none" dirty="0" smtClean="0">
                  <a:solidFill>
                    <a:srgbClr val="141414"/>
                  </a:solidFill>
                  <a:latin typeface="Public Sans Bold"/>
                </a:rPr>
                <a:t>Few stated that they felt their privacy was violated</a:t>
              </a:r>
            </a:p>
            <a:p>
              <a:pPr marL="0" lvl="0" indent="0">
                <a:lnSpc>
                  <a:spcPts val="3900"/>
                </a:lnSpc>
                <a:spcBef>
                  <a:spcPct val="0"/>
                </a:spcBef>
              </a:pPr>
              <a:endParaRPr lang="en-US" sz="3000" dirty="0">
                <a:solidFill>
                  <a:srgbClr val="141414"/>
                </a:solidFill>
                <a:latin typeface="Public Sans Bold"/>
              </a:endParaRPr>
            </a:p>
            <a:p>
              <a:pPr marL="457200" lvl="0" indent="-457200">
                <a:lnSpc>
                  <a:spcPts val="3900"/>
                </a:lnSpc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lang="en-US" sz="3000" u="none" dirty="0" smtClean="0">
                  <a:solidFill>
                    <a:srgbClr val="141414"/>
                  </a:solidFill>
                  <a:latin typeface="Public Sans Bold"/>
                </a:rPr>
                <a:t>It created an atmosphere of distrust</a:t>
              </a:r>
            </a:p>
            <a:p>
              <a:pPr marL="0" lvl="0" indent="0">
                <a:lnSpc>
                  <a:spcPts val="3900"/>
                </a:lnSpc>
                <a:spcBef>
                  <a:spcPct val="0"/>
                </a:spcBef>
              </a:pPr>
              <a:endParaRPr lang="en-US" sz="3000" dirty="0">
                <a:solidFill>
                  <a:srgbClr val="141414"/>
                </a:solidFill>
                <a:latin typeface="Public Sans Bold"/>
              </a:endParaRPr>
            </a:p>
            <a:p>
              <a:pPr marL="457200" lvl="0" indent="-457200">
                <a:lnSpc>
                  <a:spcPts val="3900"/>
                </a:lnSpc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lang="en-US" sz="3000" u="none" dirty="0" smtClean="0">
                  <a:solidFill>
                    <a:srgbClr val="141414"/>
                  </a:solidFill>
                  <a:latin typeface="Public Sans Bold"/>
                </a:rPr>
                <a:t>Could not focus due to feeling unsettled</a:t>
              </a:r>
              <a:endParaRPr lang="en-US" sz="3000" u="none" dirty="0">
                <a:solidFill>
                  <a:srgbClr val="141414"/>
                </a:solidFill>
                <a:latin typeface="Public Sans Bold"/>
              </a:endParaRPr>
            </a:p>
          </p:txBody>
        </p:sp>
      </p:grpSp>
      <p:cxnSp>
        <p:nvCxnSpPr>
          <p:cNvPr id="16" name="Straight Connector 15"/>
          <p:cNvCxnSpPr/>
          <p:nvPr/>
        </p:nvCxnSpPr>
        <p:spPr>
          <a:xfrm>
            <a:off x="5867400" y="2180592"/>
            <a:ext cx="0" cy="6701497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1887200" y="2171700"/>
            <a:ext cx="0" cy="6701497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34300" y="1548201"/>
            <a:ext cx="1981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/>
              <a:t>Positive</a:t>
            </a:r>
            <a:endParaRPr lang="en-US" sz="28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1866901" y="1562100"/>
            <a:ext cx="1981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/>
              <a:t>Overall</a:t>
            </a:r>
            <a:endParaRPr lang="en-US" sz="28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14058901" y="1526760"/>
            <a:ext cx="25096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/>
              <a:t>Negative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Diagram 11"/>
          <p:cNvGraphicFramePr/>
          <p:nvPr>
            <p:extLst>
              <p:ext uri="{D42A27DB-BD31-4B8C-83A1-F6EECF244321}">
                <p14:modId xmlns:p14="http://schemas.microsoft.com/office/powerpoint/2010/main" val="1322063413"/>
              </p:ext>
            </p:extLst>
          </p:nvPr>
        </p:nvGraphicFramePr>
        <p:xfrm>
          <a:off x="2133600" y="3464442"/>
          <a:ext cx="13258800" cy="49556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0" y="-38100"/>
            <a:ext cx="18288000" cy="212365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lvl="0" algn="ctr"/>
            <a:r>
              <a:rPr lang="en-US" sz="6600" dirty="0">
                <a:solidFill>
                  <a:srgbClr val="141414"/>
                </a:solidFill>
                <a:latin typeface="Caladea Bold"/>
              </a:rPr>
              <a:t>Recommendations for Hameem Group’s </a:t>
            </a:r>
            <a:r>
              <a:rPr lang="en-US" sz="6600" dirty="0" smtClean="0">
                <a:solidFill>
                  <a:srgbClr val="141414"/>
                </a:solidFill>
                <a:latin typeface="Caladea Bold"/>
              </a:rPr>
              <a:t>Management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8"/>
          <p:cNvSpPr/>
          <p:nvPr/>
        </p:nvSpPr>
        <p:spPr>
          <a:xfrm>
            <a:off x="0" y="-38100"/>
            <a:ext cx="18288000" cy="19431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 smtClean="0">
                <a:solidFill>
                  <a:schemeClr val="tx1"/>
                </a:solidFill>
              </a:rPr>
              <a:t>Conclusion</a:t>
            </a:r>
            <a:endParaRPr lang="en-US" sz="7200" dirty="0">
              <a:solidFill>
                <a:schemeClr val="tx1"/>
              </a:solidFill>
            </a:endParaRPr>
          </a:p>
        </p:txBody>
      </p:sp>
      <p:graphicFrame>
        <p:nvGraphicFramePr>
          <p:cNvPr id="12" name="Diagram 11"/>
          <p:cNvGraphicFramePr/>
          <p:nvPr>
            <p:extLst>
              <p:ext uri="{D42A27DB-BD31-4B8C-83A1-F6EECF244321}">
                <p14:modId xmlns:p14="http://schemas.microsoft.com/office/powerpoint/2010/main" val="1091791479"/>
              </p:ext>
            </p:extLst>
          </p:nvPr>
        </p:nvGraphicFramePr>
        <p:xfrm>
          <a:off x="1638300" y="723900"/>
          <a:ext cx="15011400" cy="9791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790</Words>
  <Application>Microsoft Office PowerPoint</Application>
  <PresentationFormat>Custom</PresentationFormat>
  <Paragraphs>94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Calibri</vt:lpstr>
      <vt:lpstr>Caladea</vt:lpstr>
      <vt:lpstr>Public Sans</vt:lpstr>
      <vt:lpstr>Arial</vt:lpstr>
      <vt:lpstr>Caladea Bold</vt:lpstr>
      <vt:lpstr>Wingdings</vt:lpstr>
      <vt:lpstr>Public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Colorful Grids and Tables Thesis Education Presentation</dc:title>
  <cp:lastModifiedBy>Hameem</cp:lastModifiedBy>
  <cp:revision>23</cp:revision>
  <dcterms:created xsi:type="dcterms:W3CDTF">2006-08-16T00:00:00Z</dcterms:created>
  <dcterms:modified xsi:type="dcterms:W3CDTF">2023-05-24T08:27:40Z</dcterms:modified>
  <dc:identifier>DAFjwF7A5wk</dc:identifier>
</cp:coreProperties>
</file>